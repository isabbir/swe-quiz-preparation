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B4A6"/>
    <a:srgbClr val="734F29"/>
    <a:srgbClr val="D24726"/>
    <a:srgbClr val="DD462F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13-Mar-24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13-Mar-24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13-Mar-24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13-Mar-24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13-Mar-24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13-Mar-24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13-Mar-24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13-Mar-24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13-Mar-24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13-Mar-24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13-Mar-24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13-Mar-24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13-Mar-24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Logic Gates, Logic Circuits &amp; Boolean Algebra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Lecture 9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5528093" cy="435133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Logic gates are electronic circuits that operate on </a:t>
            </a:r>
            <a:r>
              <a:rPr lang="en-US" dirty="0" smtClean="0">
                <a:solidFill>
                  <a:schemeClr val="tx1"/>
                </a:solidFill>
              </a:rPr>
              <a:t>one or </a:t>
            </a:r>
            <a:r>
              <a:rPr lang="en-US" dirty="0">
                <a:solidFill>
                  <a:schemeClr val="tx1"/>
                </a:solidFill>
              </a:rPr>
              <a:t>more input signals to produce standard </a:t>
            </a:r>
            <a:r>
              <a:rPr lang="en-US" dirty="0" smtClean="0">
                <a:solidFill>
                  <a:schemeClr val="tx1"/>
                </a:solidFill>
              </a:rPr>
              <a:t>output signal.</a:t>
            </a:r>
          </a:p>
          <a:p>
            <a:r>
              <a:rPr lang="en-US" dirty="0">
                <a:solidFill>
                  <a:schemeClr val="tx1"/>
                </a:solidFill>
              </a:rPr>
              <a:t>Some of the most basic and useful logic gates are -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AND</a:t>
            </a:r>
            <a:r>
              <a:rPr lang="en-US" dirty="0">
                <a:solidFill>
                  <a:schemeClr val="tx1"/>
                </a:solidFill>
              </a:rPr>
              <a:t>,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OR</a:t>
            </a:r>
            <a:r>
              <a:rPr lang="en-US" dirty="0">
                <a:solidFill>
                  <a:schemeClr val="tx1"/>
                </a:solidFill>
              </a:rPr>
              <a:t>,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NOT</a:t>
            </a:r>
            <a:r>
              <a:rPr lang="en-US" dirty="0">
                <a:solidFill>
                  <a:schemeClr val="tx1"/>
                </a:solidFill>
              </a:rPr>
              <a:t>,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NAND </a:t>
            </a:r>
            <a:r>
              <a:rPr lang="en-US" dirty="0">
                <a:solidFill>
                  <a:schemeClr val="tx1"/>
                </a:solidFill>
              </a:rPr>
              <a:t>and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NOR </a:t>
            </a:r>
            <a:r>
              <a:rPr lang="en-US" dirty="0">
                <a:solidFill>
                  <a:schemeClr val="tx1"/>
                </a:solidFill>
              </a:rPr>
              <a:t>gate</a:t>
            </a:r>
          </a:p>
        </p:txBody>
      </p:sp>
      <p:pic>
        <p:nvPicPr>
          <p:cNvPr id="1026" name="Picture 2" descr="Logic Gate: Types including Circuit Diagram, Symbols and Us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4"/>
          <a:stretch/>
        </p:blipFill>
        <p:spPr bwMode="auto">
          <a:xfrm>
            <a:off x="6901131" y="2796381"/>
            <a:ext cx="4606507" cy="2092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526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34" y="1799746"/>
            <a:ext cx="5553973" cy="4351338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Generates </a:t>
            </a:r>
            <a:r>
              <a:rPr lang="en-US" dirty="0">
                <a:solidFill>
                  <a:schemeClr val="tx1"/>
                </a:solidFill>
              </a:rPr>
              <a:t>an output signal of 1 only if all input signals are also 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96" y="3154208"/>
            <a:ext cx="5319221" cy="25681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425" y="3421627"/>
            <a:ext cx="4549534" cy="68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589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smtClean="0"/>
              <a:t>Gate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34" y="1816999"/>
            <a:ext cx="4725837" cy="435133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Generates an </a:t>
            </a:r>
            <a:r>
              <a:rPr lang="en-US" dirty="0" smtClean="0">
                <a:solidFill>
                  <a:schemeClr val="tx1"/>
                </a:solidFill>
              </a:rPr>
              <a:t>output signal </a:t>
            </a:r>
            <a:r>
              <a:rPr lang="en-US" dirty="0">
                <a:solidFill>
                  <a:schemeClr val="tx1"/>
                </a:solidFill>
              </a:rPr>
              <a:t>of 1 if at least one </a:t>
            </a:r>
            <a:r>
              <a:rPr lang="en-US" dirty="0" smtClean="0">
                <a:solidFill>
                  <a:schemeClr val="tx1"/>
                </a:solidFill>
              </a:rPr>
              <a:t>of the </a:t>
            </a:r>
            <a:r>
              <a:rPr lang="en-US" dirty="0">
                <a:solidFill>
                  <a:schemeClr val="tx1"/>
                </a:solidFill>
              </a:rPr>
              <a:t>input signals is also 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468"/>
          <a:stretch/>
        </p:blipFill>
        <p:spPr>
          <a:xfrm>
            <a:off x="604434" y="2907101"/>
            <a:ext cx="4953429" cy="3161217"/>
          </a:xfrm>
          <a:prstGeom prst="rect">
            <a:avLst/>
          </a:prstGeom>
        </p:spPr>
      </p:pic>
      <p:pic>
        <p:nvPicPr>
          <p:cNvPr id="6" name="object 2"/>
          <p:cNvPicPr/>
          <p:nvPr/>
        </p:nvPicPr>
        <p:blipFill rotWithShape="1">
          <a:blip r:embed="rId3" cstate="print"/>
          <a:srcRect b="79265"/>
          <a:stretch/>
        </p:blipFill>
        <p:spPr>
          <a:xfrm>
            <a:off x="6499814" y="3401700"/>
            <a:ext cx="5186660" cy="80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04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34" y="1834251"/>
            <a:ext cx="5330540" cy="435133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Generates an output signal, which is the reverse of the input signal </a:t>
            </a:r>
          </a:p>
        </p:txBody>
      </p:sp>
      <p:pic>
        <p:nvPicPr>
          <p:cNvPr id="4" name="object 4"/>
          <p:cNvPicPr/>
          <p:nvPr/>
        </p:nvPicPr>
        <p:blipFill rotWithShape="1">
          <a:blip r:embed="rId2" cstate="print"/>
          <a:srcRect t="28937"/>
          <a:stretch/>
        </p:blipFill>
        <p:spPr>
          <a:xfrm>
            <a:off x="604434" y="3071004"/>
            <a:ext cx="4588132" cy="2608376"/>
          </a:xfrm>
          <a:prstGeom prst="rect">
            <a:avLst/>
          </a:prstGeom>
        </p:spPr>
      </p:pic>
      <p:pic>
        <p:nvPicPr>
          <p:cNvPr id="5" name="object 4"/>
          <p:cNvPicPr/>
          <p:nvPr/>
        </p:nvPicPr>
        <p:blipFill rotWithShape="1">
          <a:blip r:embed="rId2" cstate="print"/>
          <a:srcRect b="74589"/>
          <a:stretch/>
        </p:blipFill>
        <p:spPr>
          <a:xfrm>
            <a:off x="6614260" y="3173460"/>
            <a:ext cx="4588132" cy="93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311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NAND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5079520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Complemented AND </a:t>
            </a:r>
            <a:r>
              <a:rPr lang="en-US" dirty="0" smtClean="0">
                <a:solidFill>
                  <a:schemeClr val="tx1"/>
                </a:solidFill>
              </a:rPr>
              <a:t>gate. Generates </a:t>
            </a:r>
            <a:r>
              <a:rPr lang="en-US" dirty="0">
                <a:solidFill>
                  <a:schemeClr val="tx1"/>
                </a:solidFill>
              </a:rPr>
              <a:t>an output signal of: 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dirty="0" smtClean="0">
                <a:solidFill>
                  <a:schemeClr val="tx1"/>
                </a:solidFill>
              </a:rPr>
              <a:t>① </a:t>
            </a:r>
            <a:r>
              <a:rPr lang="en-US" dirty="0">
                <a:solidFill>
                  <a:schemeClr val="tx1"/>
                </a:solidFill>
              </a:rPr>
              <a:t>1 if any one of the inputs is a 0 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dirty="0" smtClean="0">
                <a:solidFill>
                  <a:schemeClr val="tx1"/>
                </a:solidFill>
              </a:rPr>
              <a:t>② </a:t>
            </a:r>
            <a:r>
              <a:rPr lang="en-US" dirty="0">
                <a:solidFill>
                  <a:schemeClr val="tx1"/>
                </a:solidFill>
              </a:rPr>
              <a:t>0 when all the inputs are 1</a:t>
            </a:r>
          </a:p>
        </p:txBody>
      </p:sp>
      <p:pic>
        <p:nvPicPr>
          <p:cNvPr id="4" name="object 2"/>
          <p:cNvPicPr/>
          <p:nvPr/>
        </p:nvPicPr>
        <p:blipFill rotWithShape="1">
          <a:blip r:embed="rId2" cstate="print"/>
          <a:srcRect t="21596"/>
          <a:stretch/>
        </p:blipFill>
        <p:spPr>
          <a:xfrm>
            <a:off x="401833" y="3571336"/>
            <a:ext cx="5515888" cy="2726532"/>
          </a:xfrm>
          <a:prstGeom prst="rect">
            <a:avLst/>
          </a:prstGeom>
        </p:spPr>
      </p:pic>
      <p:pic>
        <p:nvPicPr>
          <p:cNvPr id="5" name="object 2"/>
          <p:cNvPicPr/>
          <p:nvPr/>
        </p:nvPicPr>
        <p:blipFill rotWithShape="1">
          <a:blip r:embed="rId2" cstate="print"/>
          <a:srcRect b="80637"/>
          <a:stretch/>
        </p:blipFill>
        <p:spPr>
          <a:xfrm>
            <a:off x="5979117" y="3571082"/>
            <a:ext cx="5515888" cy="67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324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Complemented OR </a:t>
            </a:r>
            <a:r>
              <a:rPr lang="en-US" dirty="0" smtClean="0">
                <a:solidFill>
                  <a:schemeClr val="tx1"/>
                </a:solidFill>
              </a:rPr>
              <a:t>gate. Generates </a:t>
            </a:r>
            <a:r>
              <a:rPr lang="en-US" dirty="0">
                <a:solidFill>
                  <a:schemeClr val="tx1"/>
                </a:solidFill>
              </a:rPr>
              <a:t>an output signal of: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① 1 only when all inputs are 0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② 0 if any one of inputs is a 1</a:t>
            </a:r>
          </a:p>
        </p:txBody>
      </p:sp>
      <p:pic>
        <p:nvPicPr>
          <p:cNvPr id="4" name="object 4"/>
          <p:cNvPicPr/>
          <p:nvPr/>
        </p:nvPicPr>
        <p:blipFill rotWithShape="1">
          <a:blip r:embed="rId2" cstate="print"/>
          <a:srcRect t="21614"/>
          <a:stretch/>
        </p:blipFill>
        <p:spPr>
          <a:xfrm>
            <a:off x="298776" y="3666227"/>
            <a:ext cx="5532890" cy="2592880"/>
          </a:xfrm>
          <a:prstGeom prst="rect">
            <a:avLst/>
          </a:prstGeom>
        </p:spPr>
      </p:pic>
      <p:pic>
        <p:nvPicPr>
          <p:cNvPr id="5" name="object 4"/>
          <p:cNvPicPr/>
          <p:nvPr/>
        </p:nvPicPr>
        <p:blipFill rotWithShape="1">
          <a:blip r:embed="rId2" cstate="print"/>
          <a:srcRect b="79168"/>
          <a:stretch/>
        </p:blipFill>
        <p:spPr>
          <a:xfrm>
            <a:off x="5820911" y="3363967"/>
            <a:ext cx="5532890" cy="68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48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NAND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34" y="1428810"/>
            <a:ext cx="11109384" cy="19268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NAND gate is an universal gate, it is alone  sufficient to implement any Boolean  expression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To understand this, consider: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Basic logic gates (AND, OR, and NOT) are logically  </a:t>
            </a:r>
            <a:r>
              <a:rPr lang="en-US" dirty="0" smtClean="0">
                <a:solidFill>
                  <a:schemeClr val="tx1"/>
                </a:solidFill>
              </a:rPr>
              <a:t>complete. Sufficient </a:t>
            </a:r>
            <a:r>
              <a:rPr lang="en-US" dirty="0">
                <a:solidFill>
                  <a:schemeClr val="tx1"/>
                </a:solidFill>
              </a:rPr>
              <a:t>to show that AND, OR, and NOT gates  can be implemented with NAND gates</a:t>
            </a:r>
          </a:p>
          <a:p>
            <a:pPr>
              <a:lnSpc>
                <a:spcPct val="10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6404" y="3883517"/>
            <a:ext cx="2780452" cy="716092"/>
          </a:xfrm>
          <a:prstGeom prst="rect">
            <a:avLst/>
          </a:prstGeom>
        </p:spPr>
      </p:pic>
      <p:pic>
        <p:nvPicPr>
          <p:cNvPr id="8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4088" y="3887390"/>
            <a:ext cx="3472732" cy="804407"/>
          </a:xfrm>
          <a:prstGeom prst="rect">
            <a:avLst/>
          </a:prstGeom>
        </p:spPr>
      </p:pic>
      <p:pic>
        <p:nvPicPr>
          <p:cNvPr id="9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85074" y="5223513"/>
            <a:ext cx="4588086" cy="117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524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</a:t>
            </a:r>
            <a:r>
              <a:rPr lang="en-US" dirty="0" smtClean="0"/>
              <a:t>NOR </a:t>
            </a:r>
            <a:r>
              <a:rPr lang="en-US" dirty="0"/>
              <a:t>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34" y="1523701"/>
            <a:ext cx="11083505" cy="185785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NOR gate is an universal gate, it is alone sufficient </a:t>
            </a:r>
            <a:r>
              <a:rPr lang="en-US" dirty="0" smtClean="0">
                <a:solidFill>
                  <a:schemeClr val="tx1"/>
                </a:solidFill>
              </a:rPr>
              <a:t>to implement </a:t>
            </a:r>
            <a:r>
              <a:rPr lang="en-US" dirty="0">
                <a:solidFill>
                  <a:schemeClr val="tx1"/>
                </a:solidFill>
              </a:rPr>
              <a:t>any Boolean expression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To understand this, consider: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Basic logic gates (AND, OR, and NOT) are logically </a:t>
            </a:r>
            <a:r>
              <a:rPr lang="en-US" dirty="0" smtClean="0">
                <a:solidFill>
                  <a:schemeClr val="tx1"/>
                </a:solidFill>
              </a:rPr>
              <a:t>complete. Sufficient </a:t>
            </a:r>
            <a:r>
              <a:rPr lang="en-US" dirty="0">
                <a:solidFill>
                  <a:schemeClr val="tx1"/>
                </a:solidFill>
              </a:rPr>
              <a:t>to show that AND, OR, and NOT gates can be  implemented with NOR gates</a:t>
            </a:r>
          </a:p>
          <a:p>
            <a:pPr>
              <a:lnSpc>
                <a:spcPct val="10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3919" y="4977419"/>
            <a:ext cx="4965844" cy="1546673"/>
          </a:xfrm>
          <a:prstGeom prst="rect">
            <a:avLst/>
          </a:prstGeom>
        </p:spPr>
      </p:pic>
      <p:pic>
        <p:nvPicPr>
          <p:cNvPr id="5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2399" y="3381555"/>
            <a:ext cx="4176993" cy="938010"/>
          </a:xfrm>
          <a:prstGeom prst="rect">
            <a:avLst/>
          </a:prstGeom>
        </p:spPr>
      </p:pic>
      <p:pic>
        <p:nvPicPr>
          <p:cNvPr id="6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2531" y="3480704"/>
            <a:ext cx="3431739" cy="83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542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34" y="1782493"/>
            <a:ext cx="5804139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When logic gates are interconnected to form a  gating / logic network, it is known as a combinational  logic circuit</a:t>
            </a:r>
          </a:p>
          <a:p>
            <a:r>
              <a:rPr lang="en-US" dirty="0">
                <a:solidFill>
                  <a:schemeClr val="tx1"/>
                </a:solidFill>
              </a:rPr>
              <a:t>The Boolean algebra expression for a given logic  circuit can be derived by systematically progressing  from input to output on the gates</a:t>
            </a:r>
          </a:p>
          <a:p>
            <a:r>
              <a:rPr lang="en-US" dirty="0">
                <a:solidFill>
                  <a:schemeClr val="tx1"/>
                </a:solidFill>
              </a:rPr>
              <a:t>The three logic gates (AND, OR, and NOT) are  logically complete because any Boolean expression  can be realized as a logic circuit using only these  three gates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074" name="Picture 2" descr="Circuit Simplification Examples | Boolean Algebra | Electronics Textboo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402" y="2464369"/>
            <a:ext cx="4038600" cy="2266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3940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Finding Boolean Expression of a  Logic </a:t>
            </a:r>
            <a:r>
              <a:rPr lang="en-US" sz="3200" dirty="0" smtClean="0"/>
              <a:t>Circuit</a:t>
            </a:r>
            <a:br>
              <a:rPr lang="en-US" sz="3200" dirty="0" smtClean="0"/>
            </a:br>
            <a:r>
              <a:rPr lang="en-US" sz="3200" dirty="0" smtClean="0"/>
              <a:t>(Example </a:t>
            </a:r>
            <a:r>
              <a:rPr lang="en-US" sz="3200" dirty="0"/>
              <a:t>1)</a:t>
            </a:r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7251" y="2145991"/>
            <a:ext cx="8303732" cy="319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215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Finding Boolean Expression of a  Logic </a:t>
            </a:r>
            <a:r>
              <a:rPr lang="en-US" sz="3200" dirty="0" smtClean="0"/>
              <a:t>Circuit</a:t>
            </a:r>
            <a:br>
              <a:rPr lang="en-US" sz="3200" dirty="0" smtClean="0"/>
            </a:br>
            <a:r>
              <a:rPr lang="en-US" sz="3200" dirty="0" smtClean="0"/>
              <a:t>(Example 2)</a:t>
            </a:r>
            <a:endParaRPr lang="en-US" sz="3200" dirty="0"/>
          </a:p>
        </p:txBody>
      </p:sp>
      <p:pic>
        <p:nvPicPr>
          <p:cNvPr id="5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6934" y="2050629"/>
            <a:ext cx="8204365" cy="318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94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Finding Boolean Expression of a  Logic </a:t>
            </a:r>
            <a:r>
              <a:rPr lang="en-US" sz="3200" dirty="0" smtClean="0"/>
              <a:t>Circuit</a:t>
            </a:r>
            <a:br>
              <a:rPr lang="en-US" sz="3200" dirty="0" smtClean="0"/>
            </a:br>
            <a:r>
              <a:rPr lang="en-US" sz="3200" dirty="0" smtClean="0"/>
              <a:t>(Example 3)</a:t>
            </a:r>
            <a:endParaRPr lang="en-US" sz="3200" dirty="0"/>
          </a:p>
        </p:txBody>
      </p:sp>
      <p:pic>
        <p:nvPicPr>
          <p:cNvPr id="4098" name="Picture 2" descr="LogicBlocks &amp; Digital Logic Introduction - SparkFun Lear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75"/>
          <a:stretch/>
        </p:blipFill>
        <p:spPr bwMode="auto">
          <a:xfrm>
            <a:off x="2467454" y="2135757"/>
            <a:ext cx="6564403" cy="2813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7137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34" y="1647645"/>
            <a:ext cx="10005203" cy="2881223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Use of Binary </a:t>
            </a:r>
            <a:r>
              <a:rPr lang="en-US" b="1" dirty="0" smtClean="0">
                <a:solidFill>
                  <a:schemeClr val="tx1"/>
                </a:solidFill>
              </a:rPr>
              <a:t>Digit: </a:t>
            </a:r>
            <a:r>
              <a:rPr lang="en-US" dirty="0" smtClean="0">
                <a:solidFill>
                  <a:schemeClr val="tx1"/>
                </a:solidFill>
              </a:rPr>
              <a:t>Boolean </a:t>
            </a:r>
            <a:r>
              <a:rPr lang="en-US" dirty="0">
                <a:solidFill>
                  <a:schemeClr val="tx1"/>
                </a:solidFill>
              </a:rPr>
              <a:t>equations can have either of two possible values, 0 and 1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Logical Addition: </a:t>
            </a:r>
            <a:r>
              <a:rPr lang="en-US" dirty="0" smtClean="0">
                <a:solidFill>
                  <a:schemeClr val="tx1"/>
                </a:solidFill>
              </a:rPr>
              <a:t>Symbol </a:t>
            </a:r>
            <a:r>
              <a:rPr lang="en-US" dirty="0">
                <a:solidFill>
                  <a:schemeClr val="tx1"/>
                </a:solidFill>
              </a:rPr>
              <a:t>‘+’, also known as ‘OR’ operator, used for logical addition. </a:t>
            </a:r>
            <a:r>
              <a:rPr lang="en-US" dirty="0" smtClean="0">
                <a:solidFill>
                  <a:schemeClr val="tx1"/>
                </a:solidFill>
              </a:rPr>
              <a:t>Follows </a:t>
            </a:r>
            <a:r>
              <a:rPr lang="en-US" dirty="0">
                <a:solidFill>
                  <a:schemeClr val="tx1"/>
                </a:solidFill>
              </a:rPr>
              <a:t>law of binary addition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Logical Multiplication: </a:t>
            </a:r>
            <a:r>
              <a:rPr lang="en-US" dirty="0" smtClean="0">
                <a:solidFill>
                  <a:schemeClr val="tx1"/>
                </a:solidFill>
              </a:rPr>
              <a:t>Symbol </a:t>
            </a:r>
            <a:r>
              <a:rPr lang="en-US" dirty="0">
                <a:solidFill>
                  <a:schemeClr val="tx1"/>
                </a:solidFill>
              </a:rPr>
              <a:t>‘. ’, also known as ‘AND’ operator, used for logical multiplication. </a:t>
            </a:r>
            <a:r>
              <a:rPr lang="en-US" dirty="0" smtClean="0">
                <a:solidFill>
                  <a:schemeClr val="tx1"/>
                </a:solidFill>
              </a:rPr>
              <a:t>Follows </a:t>
            </a:r>
            <a:r>
              <a:rPr lang="en-US" dirty="0">
                <a:solidFill>
                  <a:schemeClr val="tx1"/>
                </a:solidFill>
              </a:rPr>
              <a:t>law of binary </a:t>
            </a:r>
            <a:r>
              <a:rPr lang="en-US" dirty="0" smtClean="0">
                <a:solidFill>
                  <a:schemeClr val="tx1"/>
                </a:solidFill>
              </a:rPr>
              <a:t>multiplication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Complementation: </a:t>
            </a:r>
            <a:r>
              <a:rPr lang="en-US" dirty="0" smtClean="0">
                <a:solidFill>
                  <a:schemeClr val="tx1"/>
                </a:solidFill>
              </a:rPr>
              <a:t>Symbol </a:t>
            </a:r>
            <a:r>
              <a:rPr lang="en-US" dirty="0">
                <a:solidFill>
                  <a:schemeClr val="tx1"/>
                </a:solidFill>
              </a:rPr>
              <a:t>‘-’, also known as ‘NOT’ operator, used for complementation. </a:t>
            </a:r>
            <a:r>
              <a:rPr lang="en-US" dirty="0" smtClean="0">
                <a:solidFill>
                  <a:schemeClr val="tx1"/>
                </a:solidFill>
              </a:rPr>
              <a:t>Follows </a:t>
            </a:r>
            <a:r>
              <a:rPr lang="en-US" dirty="0">
                <a:solidFill>
                  <a:schemeClr val="tx1"/>
                </a:solidFill>
              </a:rPr>
              <a:t>law of binary compliment</a:t>
            </a:r>
          </a:p>
        </p:txBody>
      </p:sp>
    </p:spTree>
    <p:extLst>
      <p:ext uri="{BB962C8B-B14F-4D97-AF65-F5344CB8AC3E}">
        <p14:creationId xmlns:p14="http://schemas.microsoft.com/office/powerpoint/2010/main" val="500512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</a:t>
            </a:r>
            <a:r>
              <a:rPr lang="en-US" dirty="0" smtClean="0"/>
              <a:t>Precedence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34" y="1437435"/>
            <a:ext cx="9513497" cy="526528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Each operator has a precedence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Higher the operator’s precedence level, earlier it is  evaluated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Expression is scanned from </a:t>
            </a:r>
            <a:r>
              <a:rPr lang="en-US" b="1" dirty="0">
                <a:solidFill>
                  <a:schemeClr val="tx1"/>
                </a:solidFill>
              </a:rPr>
              <a:t>left to right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First, expressions enclosed within </a:t>
            </a:r>
            <a:r>
              <a:rPr lang="en-US" b="1" dirty="0">
                <a:solidFill>
                  <a:schemeClr val="tx1"/>
                </a:solidFill>
              </a:rPr>
              <a:t>parentheses are  evaluated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Then, all complement </a:t>
            </a:r>
            <a:r>
              <a:rPr lang="en-US" b="1" dirty="0">
                <a:solidFill>
                  <a:schemeClr val="tx1"/>
                </a:solidFill>
              </a:rPr>
              <a:t>(NOT) </a:t>
            </a:r>
            <a:r>
              <a:rPr lang="en-US" dirty="0">
                <a:solidFill>
                  <a:schemeClr val="tx1"/>
                </a:solidFill>
              </a:rPr>
              <a:t>operations are performed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Then, all ‘⋅’ </a:t>
            </a:r>
            <a:r>
              <a:rPr lang="en-US" b="1" dirty="0">
                <a:solidFill>
                  <a:schemeClr val="tx1"/>
                </a:solidFill>
              </a:rPr>
              <a:t>(AND) </a:t>
            </a:r>
            <a:r>
              <a:rPr lang="en-US" dirty="0">
                <a:solidFill>
                  <a:schemeClr val="tx1"/>
                </a:solidFill>
              </a:rPr>
              <a:t>operations are performed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Finally, all ‘+’ </a:t>
            </a:r>
            <a:r>
              <a:rPr lang="en-US" b="1" dirty="0">
                <a:solidFill>
                  <a:schemeClr val="tx1"/>
                </a:solidFill>
              </a:rPr>
              <a:t>(OR) </a:t>
            </a:r>
            <a:r>
              <a:rPr lang="en-US" dirty="0">
                <a:solidFill>
                  <a:schemeClr val="tx1"/>
                </a:solidFill>
              </a:rPr>
              <a:t>operations are performed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5366" y="3028259"/>
            <a:ext cx="3788435" cy="208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047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Laws of Boolean Algebra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2082"/>
          <a:stretch/>
        </p:blipFill>
        <p:spPr>
          <a:xfrm>
            <a:off x="1894443" y="1500995"/>
            <a:ext cx="8169348" cy="477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735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Rules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0864"/>
          <a:stretch/>
        </p:blipFill>
        <p:spPr>
          <a:xfrm>
            <a:off x="2317911" y="1613138"/>
            <a:ext cx="8051071" cy="471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60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Rules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325" y="1626559"/>
            <a:ext cx="8460359" cy="480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404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Simplify Boolean Equation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3206" t="14213" r="5027" b="18617"/>
          <a:stretch/>
        </p:blipFill>
        <p:spPr>
          <a:xfrm>
            <a:off x="604434" y="1542660"/>
            <a:ext cx="8402128" cy="460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429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DeMorgan’s</a:t>
            </a:r>
            <a:r>
              <a:rPr lang="en-US" dirty="0" smtClean="0"/>
              <a:t> Theorem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005"/>
          <a:stretch/>
        </p:blipFill>
        <p:spPr>
          <a:xfrm>
            <a:off x="2269462" y="1526875"/>
            <a:ext cx="7979638" cy="468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154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66226" y="2976113"/>
            <a:ext cx="4912692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3600" dirty="0" smtClean="0"/>
              <a:t>That’s all for today………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41352462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970C04F-E7AC-41AB-9C6D-1B1BB88BFF7F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 2013</Template>
  <TotalTime>66</TotalTime>
  <Words>544</Words>
  <Application>Microsoft Office PowerPoint</Application>
  <PresentationFormat>Widescreen</PresentationFormat>
  <Paragraphs>59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Segoe UI</vt:lpstr>
      <vt:lpstr>Segoe UI Light</vt:lpstr>
      <vt:lpstr>WelcomeDoc</vt:lpstr>
      <vt:lpstr>Logic Gates, Logic Circuits &amp; Boolean Algebra</vt:lpstr>
      <vt:lpstr>Logic Gates</vt:lpstr>
      <vt:lpstr>AND Gate</vt:lpstr>
      <vt:lpstr>OR Gate</vt:lpstr>
      <vt:lpstr>NOT Gate</vt:lpstr>
      <vt:lpstr>NAND Gate</vt:lpstr>
      <vt:lpstr>NOR Gate</vt:lpstr>
      <vt:lpstr>Universal NAND Gate</vt:lpstr>
      <vt:lpstr>Universal NOR Gate</vt:lpstr>
      <vt:lpstr>Logic Circuits</vt:lpstr>
      <vt:lpstr>Finding Boolean Expression of a  Logic Circuit (Example 1)</vt:lpstr>
      <vt:lpstr>Finding Boolean Expression of a  Logic Circuit (Example 2)</vt:lpstr>
      <vt:lpstr>Finding Boolean Expression of a  Logic Circuit (Example 3)</vt:lpstr>
      <vt:lpstr>Boolean Algebra</vt:lpstr>
      <vt:lpstr>Operator Precedence</vt:lpstr>
      <vt:lpstr>Laws of Boolean Algebra</vt:lpstr>
      <vt:lpstr>Rules</vt:lpstr>
      <vt:lpstr>Rules</vt:lpstr>
      <vt:lpstr>Simplify Boolean Equation</vt:lpstr>
      <vt:lpstr>DeMorgan’s Theorem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Gates, Logic Circuits &amp; Boolean Algebra</dc:title>
  <dc:creator>RootCode</dc:creator>
  <cp:keywords/>
  <cp:lastModifiedBy>RootCode</cp:lastModifiedBy>
  <cp:revision>7</cp:revision>
  <dcterms:created xsi:type="dcterms:W3CDTF">2024-03-12T18:41:46Z</dcterms:created>
  <dcterms:modified xsi:type="dcterms:W3CDTF">2024-03-12T19:48:45Z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