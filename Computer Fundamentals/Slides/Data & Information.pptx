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 r:id="rId5"/>
    <p:sldId id="257" r:id="rId6"/>
    <p:sldId id="258" r:id="rId7"/>
    <p:sldId id="259" r:id="rId8"/>
    <p:sldId id="260" r:id="rId9"/>
    <p:sldId id="261" r:id="rId10"/>
    <p:sldId id="262" r:id="rId11"/>
    <p:sldId id="263" r:id="rId12"/>
    <p:sldId id="264" r:id="rId13"/>
    <p:sldId id="265" r:id="rId14"/>
    <p:sldId id="266"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75E278A-FF0E-49A4-B170-79828D63BBAD}">
          <p14:sldIdLst>
            <p14:sldId id="256"/>
            <p14:sldId id="257"/>
            <p14:sldId id="258"/>
            <p14:sldId id="259"/>
            <p14:sldId id="260"/>
            <p14:sldId id="261"/>
            <p14:sldId id="262"/>
            <p14:sldId id="263"/>
            <p14:sldId id="264"/>
            <p14:sldId id="265"/>
            <p14:sldId id="26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24726"/>
    <a:srgbClr val="D2B4A6"/>
    <a:srgbClr val="734F29"/>
    <a:srgbClr val="DD462F"/>
    <a:srgbClr val="AEB785"/>
    <a:srgbClr val="EFD5A2"/>
    <a:srgbClr val="3B3026"/>
    <a:srgbClr val="ECE1CA"/>
    <a:srgbClr val="795531"/>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280" autoAdjust="0"/>
  </p:normalViewPr>
  <p:slideViewPr>
    <p:cSldViewPr snapToGrid="0">
      <p:cViewPr varScale="1">
        <p:scale>
          <a:sx n="89" d="100"/>
          <a:sy n="89" d="100"/>
        </p:scale>
        <p:origin x="466" y="7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13577B-6902-467D-A26C-08A0DD5E4E03}" type="datetimeFigureOut">
              <a:rPr lang="en-US" smtClean="0"/>
              <a:t>29-Jan-24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61EA0F-A667-4B49-8422-0062BC55E249}" type="slidenum">
              <a:rPr lang="en-US" smtClean="0"/>
              <a:t>‹#›</a:t>
            </a:fld>
            <a:endParaRPr lang="en-US"/>
          </a:p>
        </p:txBody>
      </p:sp>
    </p:spTree>
    <p:extLst>
      <p:ext uri="{BB962C8B-B14F-4D97-AF65-F5344CB8AC3E}">
        <p14:creationId xmlns:p14="http://schemas.microsoft.com/office/powerpoint/2010/main" val="3381910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DF61EA0F-A667-4B49-8422-0062BC55E249}" type="slidenum">
              <a:rPr lang="en-US" smtClean="0"/>
              <a:t>1</a:t>
            </a:fld>
            <a:endParaRPr lang="en-US"/>
          </a:p>
        </p:txBody>
      </p:sp>
    </p:spTree>
    <p:extLst>
      <p:ext uri="{BB962C8B-B14F-4D97-AF65-F5344CB8AC3E}">
        <p14:creationId xmlns:p14="http://schemas.microsoft.com/office/powerpoint/2010/main" val="101176981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ctrTitle"/>
          </p:nvPr>
        </p:nvSpPr>
        <p:spPr>
          <a:xfrm>
            <a:off x="838200" y="2061006"/>
            <a:ext cx="10515600" cy="2387600"/>
          </a:xfrm>
        </p:spPr>
        <p:txBody>
          <a:bodyPr anchor="b">
            <a:normAutofit/>
          </a:bodyPr>
          <a:lstStyle>
            <a:lvl1pPr algn="l">
              <a:defRPr sz="5400">
                <a:solidFill>
                  <a:schemeClr val="bg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838202" y="5110609"/>
            <a:ext cx="6705599" cy="1137793"/>
          </a:xfrm>
        </p:spPr>
        <p:txBody>
          <a:bodyPr>
            <a:normAutofit/>
          </a:bodyPr>
          <a:lstStyle>
            <a:lvl1pPr marL="0" indent="0" algn="l">
              <a:lnSpc>
                <a:spcPct val="150000"/>
              </a:lnSpc>
              <a:spcBef>
                <a:spcPts val="600"/>
              </a:spcBef>
              <a:buNone/>
              <a:defRPr sz="2800">
                <a:solidFill>
                  <a:srgbClr val="D24726"/>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29-Jan-24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4866468"/>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7185494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4434" y="0"/>
            <a:ext cx="10749367" cy="1208868"/>
          </a:xfrm>
        </p:spPr>
        <p:txBody>
          <a:bodyPr anchor="b">
            <a:normAutofit/>
          </a:bodyPr>
          <a:lstStyle>
            <a:lvl1pPr>
              <a:defRPr sz="3600">
                <a:solidFill>
                  <a:schemeClr val="bg1"/>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838201" y="1825625"/>
            <a:ext cx="4167753" cy="4351338"/>
          </a:xfrm>
        </p:spPr>
        <p:txBody>
          <a:bodyPr>
            <a:normAutofit/>
          </a:bodyPr>
          <a:lstStyle>
            <a:lvl1pPr marL="0" indent="0">
              <a:lnSpc>
                <a:spcPct val="150000"/>
              </a:lnSpc>
              <a:spcAft>
                <a:spcPts val="1200"/>
              </a:spcAft>
              <a:buNone/>
              <a:defRPr sz="1600">
                <a:solidFill>
                  <a:schemeClr val="bg1">
                    <a:lumMod val="50000"/>
                  </a:schemeClr>
                </a:solidFill>
              </a:defRPr>
            </a:lvl1pPr>
            <a:lvl2pPr>
              <a:lnSpc>
                <a:spcPct val="150000"/>
              </a:lnSpc>
              <a:spcAft>
                <a:spcPts val="1200"/>
              </a:spcAft>
              <a:defRPr sz="1400">
                <a:solidFill>
                  <a:schemeClr val="bg1">
                    <a:lumMod val="50000"/>
                  </a:schemeClr>
                </a:solidFill>
              </a:defRPr>
            </a:lvl2pPr>
            <a:lvl3pPr>
              <a:lnSpc>
                <a:spcPct val="150000"/>
              </a:lnSpc>
              <a:spcAft>
                <a:spcPts val="1200"/>
              </a:spcAft>
              <a:defRPr sz="1200">
                <a:solidFill>
                  <a:schemeClr val="bg1">
                    <a:lumMod val="50000"/>
                  </a:schemeClr>
                </a:solidFill>
              </a:defRPr>
            </a:lvl3pPr>
            <a:lvl4pPr>
              <a:lnSpc>
                <a:spcPct val="150000"/>
              </a:lnSpc>
              <a:spcAft>
                <a:spcPts val="1200"/>
              </a:spcAft>
              <a:defRPr sz="1100">
                <a:solidFill>
                  <a:schemeClr val="bg1">
                    <a:lumMod val="50000"/>
                  </a:schemeClr>
                </a:solidFill>
              </a:defRPr>
            </a:lvl4pPr>
            <a:lvl5pPr>
              <a:lnSpc>
                <a:spcPct val="150000"/>
              </a:lnSpc>
              <a:spcAft>
                <a:spcPts val="1200"/>
              </a:spcAft>
              <a:defRPr sz="1100">
                <a:solidFill>
                  <a:schemeClr val="bg1">
                    <a:lumMod val="50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BEEBAAA-29B5-4AF5-BC5F-7E580C29002D}" type="datetimeFigureOut">
              <a:rPr lang="en-US" smtClean="0"/>
              <a:t>29-Jan-24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21858365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838201" y="2402238"/>
            <a:ext cx="4508715" cy="2187227"/>
          </a:xfrm>
        </p:spPr>
        <p:txBody>
          <a:bodyPr anchor="ctr">
            <a:noAutofit/>
          </a:bodyPr>
          <a:lstStyle>
            <a:lvl1pPr algn="l">
              <a:defRPr sz="4800">
                <a:solidFill>
                  <a:srgbClr val="D24726"/>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6323308" y="2402237"/>
            <a:ext cx="5269424" cy="2187226"/>
          </a:xfrm>
        </p:spPr>
        <p:txBody>
          <a:bodyPr anchor="ctr">
            <a:normAutofit/>
          </a:bodyPr>
          <a:lstStyle>
            <a:lvl1pPr marL="0" indent="0">
              <a:lnSpc>
                <a:spcPct val="150000"/>
              </a:lnSpc>
              <a:buNone/>
              <a:defRPr sz="2800">
                <a:solidFill>
                  <a:schemeClr val="bg1"/>
                </a:solidFill>
                <a:latin typeface="+mj-lt"/>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BEEBAAA-29B5-4AF5-BC5F-7E580C29002D}" type="datetimeFigureOut">
              <a:rPr lang="en-US" smtClean="0"/>
              <a:t>29-Jan-24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5656882" y="1709738"/>
            <a:ext cx="6535119" cy="357518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356555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a:p>
        </p:txBody>
      </p:sp>
      <p:sp>
        <p:nvSpPr>
          <p:cNvPr id="5" name="Date Placeholder 4"/>
          <p:cNvSpPr>
            <a:spLocks noGrp="1"/>
          </p:cNvSpPr>
          <p:nvPr>
            <p:ph type="dt" sz="half" idx="10"/>
          </p:nvPr>
        </p:nvSpPr>
        <p:spPr/>
        <p:txBody>
          <a:bodyPr/>
          <a:lstStyle/>
          <a:p>
            <a:fld id="{8BEEBAAA-29B5-4AF5-BC5F-7E580C29002D}" type="datetimeFigureOut">
              <a:rPr lang="en-US" smtClean="0"/>
              <a:t>29-Jan-24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
        <p:nvSpPr>
          <p:cNvPr id="9" name="Rectangle 8"/>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328223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0"/>
            <a:ext cx="10737851" cy="1228436"/>
          </a:xfrm>
        </p:spPr>
        <p:txBody>
          <a:bodyPr anchor="b">
            <a:normAutofit/>
          </a:bodyPr>
          <a:lstStyle>
            <a:lvl1pPr>
              <a:defRPr sz="3600">
                <a:solidFill>
                  <a:schemeClr val="bg1"/>
                </a:solidFill>
              </a:defRPr>
            </a:lvl1pPr>
          </a:lstStyle>
          <a:p>
            <a:r>
              <a:rPr lang="en-US" smtClean="0"/>
              <a:t>Click to edit Master title style</a:t>
            </a:r>
            <a:endParaRPr lang="en-US"/>
          </a:p>
        </p:txBody>
      </p:sp>
      <p:sp>
        <p:nvSpPr>
          <p:cNvPr id="3" name="Text Placeholder 2"/>
          <p:cNvSpPr>
            <a:spLocks noGrp="1"/>
          </p:cNvSpPr>
          <p:nvPr>
            <p:ph type="body" idx="1"/>
          </p:nvPr>
        </p:nvSpPr>
        <p:spPr>
          <a:xfrm>
            <a:off x="831851" y="1489075"/>
            <a:ext cx="5156200"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1851" y="2193927"/>
            <a:ext cx="5156200"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dirty="0"/>
          </a:p>
        </p:txBody>
      </p:sp>
      <p:sp>
        <p:nvSpPr>
          <p:cNvPr id="5" name="Text Placeholder 4"/>
          <p:cNvSpPr>
            <a:spLocks noGrp="1"/>
          </p:cNvSpPr>
          <p:nvPr>
            <p:ph type="body" sz="quarter" idx="3"/>
          </p:nvPr>
        </p:nvSpPr>
        <p:spPr>
          <a:xfrm>
            <a:off x="6189664" y="1489075"/>
            <a:ext cx="5157787" cy="6413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9664" y="2193927"/>
            <a:ext cx="5157787" cy="397827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a:p>
        </p:txBody>
      </p:sp>
      <p:sp>
        <p:nvSpPr>
          <p:cNvPr id="7" name="Date Placeholder 6"/>
          <p:cNvSpPr>
            <a:spLocks noGrp="1"/>
          </p:cNvSpPr>
          <p:nvPr>
            <p:ph type="dt" sz="half" idx="10"/>
          </p:nvPr>
        </p:nvSpPr>
        <p:spPr/>
        <p:txBody>
          <a:bodyPr/>
          <a:lstStyle/>
          <a:p>
            <a:fld id="{8BEEBAAA-29B5-4AF5-BC5F-7E580C29002D}" type="datetimeFigureOut">
              <a:rPr lang="en-US" smtClean="0"/>
              <a:t>29-Jan-24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860EDB8-5305-433F-BE41-D7A86D811DB3}" type="slidenum">
              <a:rPr lang="en-US" smtClean="0"/>
              <a:t>‹#›</a:t>
            </a:fld>
            <a:endParaRPr lang="en-US"/>
          </a:p>
        </p:txBody>
      </p:sp>
      <p:sp>
        <p:nvSpPr>
          <p:cNvPr id="11" name="Rectangle 10"/>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36060298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BEEBAAA-29B5-4AF5-BC5F-7E580C29002D}" type="datetimeFigureOut">
              <a:rPr lang="en-US" smtClean="0"/>
              <a:t>29-Jan-24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860EDB8-5305-433F-BE41-D7A86D811DB3}" type="slidenum">
              <a:rPr lang="en-US" smtClean="0"/>
              <a:t>‹#›</a:t>
            </a:fld>
            <a:endParaRPr lang="en-US"/>
          </a:p>
        </p:txBody>
      </p:sp>
      <p:sp>
        <p:nvSpPr>
          <p:cNvPr id="7" name="Rectangle 6"/>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008144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BEEBAAA-29B5-4AF5-BC5F-7E580C29002D}" type="datetimeFigureOut">
              <a:rPr lang="en-US" smtClean="0"/>
              <a:t>29-Jan-24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403743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7"/>
            <a:ext cx="6172200" cy="4873625"/>
          </a:xfrm>
        </p:spPr>
        <p:txBody>
          <a:bodyPr vert="horz" lIns="91440" tIns="45720" rIns="91440" bIns="45720" rtlCol="0">
            <a:normAutofit/>
          </a:bodyPr>
          <a:lstStyle>
            <a:lvl1pPr>
              <a:defRPr lang="en-US" sz="1600" smtClean="0">
                <a:solidFill>
                  <a:schemeClr val="bg1">
                    <a:lumMod val="50000"/>
                  </a:schemeClr>
                </a:solidFill>
              </a:defRPr>
            </a:lvl1pPr>
            <a:lvl2pPr>
              <a:defRPr lang="en-US" sz="1400" smtClean="0">
                <a:solidFill>
                  <a:schemeClr val="bg1">
                    <a:lumMod val="50000"/>
                  </a:schemeClr>
                </a:solidFill>
              </a:defRPr>
            </a:lvl2pPr>
            <a:lvl3pPr>
              <a:defRPr lang="en-US" sz="1200" smtClean="0">
                <a:solidFill>
                  <a:schemeClr val="bg1">
                    <a:lumMod val="50000"/>
                  </a:schemeClr>
                </a:solidFill>
              </a:defRPr>
            </a:lvl3pPr>
            <a:lvl4pPr>
              <a:defRPr lang="en-US" sz="1100" smtClean="0">
                <a:solidFill>
                  <a:schemeClr val="bg1">
                    <a:lumMod val="50000"/>
                  </a:schemeClr>
                </a:solidFill>
              </a:defRPr>
            </a:lvl4pPr>
            <a:lvl5pPr>
              <a:defRPr lang="en-US" sz="1100">
                <a:solidFill>
                  <a:schemeClr val="bg1">
                    <a:lumMod val="50000"/>
                  </a:schemeClr>
                </a:solidFill>
              </a:defRPr>
            </a:lvl5pPr>
          </a:lstStyle>
          <a:p>
            <a:pPr marL="0" lvl="0" indent="0">
              <a:lnSpc>
                <a:spcPct val="150000"/>
              </a:lnSpc>
              <a:spcAft>
                <a:spcPts val="1200"/>
              </a:spcAft>
              <a:buNone/>
            </a:pPr>
            <a:r>
              <a:rPr lang="en-US" smtClean="0"/>
              <a:t>Click to edit Master text styles</a:t>
            </a:r>
          </a:p>
          <a:p>
            <a:pPr marL="0" lvl="1" indent="0">
              <a:lnSpc>
                <a:spcPct val="150000"/>
              </a:lnSpc>
              <a:spcAft>
                <a:spcPts val="1200"/>
              </a:spcAft>
              <a:buNone/>
            </a:pPr>
            <a:r>
              <a:rPr lang="en-US" smtClean="0"/>
              <a:t>Second level</a:t>
            </a:r>
          </a:p>
          <a:p>
            <a:pPr marL="0" lvl="2" indent="0">
              <a:lnSpc>
                <a:spcPct val="150000"/>
              </a:lnSpc>
              <a:spcAft>
                <a:spcPts val="1200"/>
              </a:spcAft>
              <a:buNone/>
            </a:pPr>
            <a:r>
              <a:rPr lang="en-US" smtClean="0"/>
              <a:t>Third level</a:t>
            </a:r>
          </a:p>
          <a:p>
            <a:pPr marL="0" lvl="3" indent="0">
              <a:lnSpc>
                <a:spcPct val="150000"/>
              </a:lnSpc>
              <a:spcAft>
                <a:spcPts val="1200"/>
              </a:spcAft>
              <a:buNone/>
            </a:pPr>
            <a:r>
              <a:rPr lang="en-US" smtClean="0"/>
              <a:t>Fourth level</a:t>
            </a:r>
          </a:p>
          <a:p>
            <a:pPr marL="0" lvl="4" indent="0">
              <a:lnSpc>
                <a:spcPct val="150000"/>
              </a:lnSpc>
              <a:spcAft>
                <a:spcPts val="1200"/>
              </a:spcAft>
              <a:buNone/>
            </a:pPr>
            <a:r>
              <a:rPr lang="en-US" smtClean="0"/>
              <a:t>Fifth level</a:t>
            </a:r>
            <a:endParaRPr lang="en-US"/>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29-Jan-24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1784193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839788" y="2101850"/>
            <a:ext cx="3932237" cy="37592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BEEBAAA-29B5-4AF5-BC5F-7E580C29002D}" type="datetimeFigureOut">
              <a:rPr lang="en-US" smtClean="0"/>
              <a:t>29-Jan-24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860EDB8-5305-433F-BE41-D7A86D811DB3}" type="slidenum">
              <a:rPr lang="en-US" smtClean="0"/>
              <a:t>‹#›</a:t>
            </a:fld>
            <a:endParaRPr lang="en-US"/>
          </a:p>
        </p:txBody>
      </p:sp>
    </p:spTree>
    <p:extLst>
      <p:ext uri="{BB962C8B-B14F-4D97-AF65-F5344CB8AC3E}">
        <p14:creationId xmlns:p14="http://schemas.microsoft.com/office/powerpoint/2010/main" val="316109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1"/>
          <p:cNvSpPr>
            <a:spLocks noGrp="1"/>
          </p:cNvSpPr>
          <p:nvPr>
            <p:ph type="title"/>
          </p:nvPr>
        </p:nvSpPr>
        <p:spPr>
          <a:xfrm>
            <a:off x="609600" y="1"/>
            <a:ext cx="10744200" cy="1228436"/>
          </a:xfrm>
        </p:spPr>
        <p:txBody>
          <a:bodyPr anchor="b">
            <a:normAutofit/>
          </a:bodyPr>
          <a:lstStyle>
            <a:lvl1pPr>
              <a:defRPr sz="3600">
                <a:solidFill>
                  <a:schemeClr val="bg1"/>
                </a:solidFill>
              </a:defRPr>
            </a:lvl1p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29-Jan-24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0" y="0"/>
            <a:ext cx="12192000" cy="1332854"/>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59692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Vertical Title 1"/>
          <p:cNvSpPr>
            <a:spLocks noGrp="1"/>
          </p:cNvSpPr>
          <p:nvPr>
            <p:ph type="title" orient="vert"/>
          </p:nvPr>
        </p:nvSpPr>
        <p:spPr>
          <a:xfrm>
            <a:off x="10215419" y="365125"/>
            <a:ext cx="1819564" cy="5811838"/>
          </a:xfrm>
        </p:spPr>
        <p:txBody>
          <a:bodyPr vert="eaVert" anchor="b">
            <a:normAutofit/>
          </a:bodyPr>
          <a:lstStyle>
            <a:lvl1pPr>
              <a:defRPr sz="3600">
                <a:solidFill>
                  <a:schemeClr val="bg1"/>
                </a:solidFil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BEEBAAA-29B5-4AF5-BC5F-7E580C29002D}" type="datetimeFigureOut">
              <a:rPr lang="en-US" smtClean="0"/>
              <a:t>29-Jan-24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860EDB8-5305-433F-BE41-D7A86D811DB3}" type="slidenum">
              <a:rPr lang="en-US" smtClean="0"/>
              <a:t>‹#›</a:t>
            </a:fld>
            <a:endParaRPr lang="en-US"/>
          </a:p>
        </p:txBody>
      </p:sp>
      <p:sp>
        <p:nvSpPr>
          <p:cNvPr id="8" name="Rectangle 7"/>
          <p:cNvSpPr/>
          <p:nvPr userDrawn="1"/>
        </p:nvSpPr>
        <p:spPr>
          <a:xfrm>
            <a:off x="10095346" y="0"/>
            <a:ext cx="2096655" cy="6858000"/>
          </a:xfrm>
          <a:prstGeom prst="rect">
            <a:avLst/>
          </a:prstGeom>
          <a:solidFill>
            <a:srgbClr val="D24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Tree>
    <p:extLst>
      <p:ext uri="{BB962C8B-B14F-4D97-AF65-F5344CB8AC3E}">
        <p14:creationId xmlns:p14="http://schemas.microsoft.com/office/powerpoint/2010/main" val="1302266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2"/>
            <a:ext cx="3276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BEEBAAA-29B5-4AF5-BC5F-7E580C29002D}" type="datetimeFigureOut">
              <a:rPr lang="en-US" smtClean="0"/>
              <a:t>29-Jan-24</a:t>
            </a:fld>
            <a:endParaRPr lang="en-US"/>
          </a:p>
        </p:txBody>
      </p:sp>
      <p:sp>
        <p:nvSpPr>
          <p:cNvPr id="5" name="Footer Placeholder 4"/>
          <p:cNvSpPr>
            <a:spLocks noGrp="1"/>
          </p:cNvSpPr>
          <p:nvPr>
            <p:ph type="ftr" sz="quarter" idx="3"/>
          </p:nvPr>
        </p:nvSpPr>
        <p:spPr>
          <a:xfrm>
            <a:off x="4648200" y="6356352"/>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077200" y="6356352"/>
            <a:ext cx="3276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860EDB8-5305-433F-BE41-D7A86D811DB3}" type="slidenum">
              <a:rPr lang="en-US" smtClean="0"/>
              <a:t>‹#›</a:t>
            </a:fld>
            <a:endParaRPr lang="en-US"/>
          </a:p>
        </p:txBody>
      </p:sp>
    </p:spTree>
    <p:extLst>
      <p:ext uri="{BB962C8B-B14F-4D97-AF65-F5344CB8AC3E}">
        <p14:creationId xmlns:p14="http://schemas.microsoft.com/office/powerpoint/2010/main" val="9467549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30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ct val="300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ct val="300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Data &amp; Information</a:t>
            </a:r>
            <a:endParaRPr lang="en-US" dirty="0"/>
          </a:p>
        </p:txBody>
      </p:sp>
      <p:sp>
        <p:nvSpPr>
          <p:cNvPr id="3" name="Subtitle 2"/>
          <p:cNvSpPr>
            <a:spLocks noGrp="1"/>
          </p:cNvSpPr>
          <p:nvPr>
            <p:ph type="subTitle" idx="1"/>
          </p:nvPr>
        </p:nvSpPr>
        <p:spPr/>
        <p:txBody>
          <a:bodyPr>
            <a:normAutofit/>
          </a:bodyPr>
          <a:lstStyle/>
          <a:p>
            <a:r>
              <a:rPr lang="en-US" dirty="0" smtClean="0"/>
              <a:t>Lecture 1</a:t>
            </a:r>
            <a:endParaRPr lang="en-US" dirty="0"/>
          </a:p>
        </p:txBody>
      </p:sp>
    </p:spTree>
    <p:extLst>
      <p:ext uri="{BB962C8B-B14F-4D97-AF65-F5344CB8AC3E}">
        <p14:creationId xmlns:p14="http://schemas.microsoft.com/office/powerpoint/2010/main" val="247180773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normAutofit/>
          </a:bodyPr>
          <a:lstStyle/>
          <a:p>
            <a:r>
              <a:rPr lang="en-US" sz="2000" b="1" dirty="0" smtClean="0">
                <a:solidFill>
                  <a:srgbClr val="D24726"/>
                </a:solidFill>
              </a:rPr>
              <a:t>What is data?</a:t>
            </a:r>
          </a:p>
          <a:p>
            <a:r>
              <a:rPr lang="en-US" dirty="0">
                <a:solidFill>
                  <a:schemeClr val="tx1"/>
                </a:solidFill>
              </a:rPr>
              <a:t>Data is a raw and unorganized fact that is required to be processed to make it meaningful. It can be considered as facts and statistics collected together for reference or analysis. Data are individual units of information</a:t>
            </a:r>
            <a:endParaRPr lang="en-US" dirty="0">
              <a:solidFill>
                <a:schemeClr val="tx1"/>
              </a:solidFill>
            </a:endParaRPr>
          </a:p>
        </p:txBody>
      </p:sp>
      <p:sp>
        <p:nvSpPr>
          <p:cNvPr id="4" name="Content Placeholder 2"/>
          <p:cNvSpPr txBox="1">
            <a:spLocks/>
          </p:cNvSpPr>
          <p:nvPr/>
        </p:nvSpPr>
        <p:spPr>
          <a:xfrm>
            <a:off x="7186048" y="1825625"/>
            <a:ext cx="4167753" cy="4351338"/>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r>
              <a:rPr lang="en-US" sz="2000" b="1" dirty="0" smtClean="0">
                <a:solidFill>
                  <a:srgbClr val="D24726"/>
                </a:solidFill>
              </a:rPr>
              <a:t>What is information?</a:t>
            </a:r>
          </a:p>
          <a:p>
            <a:r>
              <a:rPr lang="en-US" dirty="0" smtClean="0">
                <a:solidFill>
                  <a:schemeClr val="tx1"/>
                </a:solidFill>
              </a:rPr>
              <a:t>Processed data is considered as information. </a:t>
            </a:r>
            <a:r>
              <a:rPr lang="en-US" dirty="0">
                <a:solidFill>
                  <a:schemeClr val="tx1"/>
                </a:solidFill>
              </a:rPr>
              <a:t>Information is the knowledge that is remodeled and classified into an intelligible type, which may be utilized in the method of deciding.</a:t>
            </a:r>
            <a:endParaRPr lang="en-US" dirty="0">
              <a:solidFill>
                <a:schemeClr val="tx1"/>
              </a:solidFill>
            </a:endParaRPr>
          </a:p>
        </p:txBody>
      </p:sp>
    </p:spTree>
    <p:extLst>
      <p:ext uri="{BB962C8B-B14F-4D97-AF65-F5344CB8AC3E}">
        <p14:creationId xmlns:p14="http://schemas.microsoft.com/office/powerpoint/2010/main" val="3144382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Difference between data and information</a:t>
            </a:r>
            <a:endParaRPr lang="en-US" dirty="0"/>
          </a:p>
        </p:txBody>
      </p:sp>
      <p:sp>
        <p:nvSpPr>
          <p:cNvPr id="3" name="Content Placeholder 2"/>
          <p:cNvSpPr>
            <a:spLocks noGrp="1"/>
          </p:cNvSpPr>
          <p:nvPr>
            <p:ph idx="1"/>
          </p:nvPr>
        </p:nvSpPr>
        <p:spPr>
          <a:xfrm>
            <a:off x="2430066" y="3295291"/>
            <a:ext cx="7098101" cy="1233578"/>
          </a:xfrm>
        </p:spPr>
        <p:txBody>
          <a:bodyPr/>
          <a:lstStyle/>
          <a:p>
            <a:pPr algn="ctr"/>
            <a:r>
              <a:rPr lang="en-US" b="1" dirty="0" smtClean="0">
                <a:solidFill>
                  <a:schemeClr val="tx1"/>
                </a:solidFill>
              </a:rPr>
              <a:t>Home Task: Write down the differences between data and information.</a:t>
            </a:r>
            <a:endParaRPr lang="en-US" b="1" dirty="0">
              <a:solidFill>
                <a:schemeClr val="tx1"/>
              </a:solidFill>
            </a:endParaRPr>
          </a:p>
        </p:txBody>
      </p:sp>
    </p:spTree>
    <p:extLst>
      <p:ext uri="{BB962C8B-B14F-4D97-AF65-F5344CB8AC3E}">
        <p14:creationId xmlns:p14="http://schemas.microsoft.com/office/powerpoint/2010/main" val="114926658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Guess</a:t>
            </a:r>
            <a:endParaRPr lang="en-US" dirty="0"/>
          </a:p>
        </p:txBody>
      </p:sp>
      <p:sp>
        <p:nvSpPr>
          <p:cNvPr id="3" name="Content Placeholder 2"/>
          <p:cNvSpPr>
            <a:spLocks noGrp="1"/>
          </p:cNvSpPr>
          <p:nvPr>
            <p:ph idx="1"/>
          </p:nvPr>
        </p:nvSpPr>
        <p:spPr>
          <a:xfrm>
            <a:off x="4246559" y="2386342"/>
            <a:ext cx="2807485" cy="1279884"/>
          </a:xfrm>
        </p:spPr>
        <p:txBody>
          <a:bodyPr>
            <a:normAutofit fontScale="92500" lnSpcReduction="20000"/>
          </a:bodyPr>
          <a:lstStyle/>
          <a:p>
            <a:r>
              <a:rPr lang="en-US" sz="6000" dirty="0" smtClean="0">
                <a:solidFill>
                  <a:schemeClr val="tx1"/>
                </a:solidFill>
              </a:rPr>
              <a:t>5+5=10</a:t>
            </a:r>
            <a:endParaRPr lang="en-US" sz="6000" dirty="0">
              <a:solidFill>
                <a:schemeClr val="tx1"/>
              </a:solidFill>
            </a:endParaRPr>
          </a:p>
        </p:txBody>
      </p:sp>
      <p:sp>
        <p:nvSpPr>
          <p:cNvPr id="16" name="Content Placeholder 2"/>
          <p:cNvSpPr txBox="1">
            <a:spLocks/>
          </p:cNvSpPr>
          <p:nvPr/>
        </p:nvSpPr>
        <p:spPr>
          <a:xfrm>
            <a:off x="3709358" y="4353165"/>
            <a:ext cx="6314538" cy="1279884"/>
          </a:xfrm>
          <a:prstGeom prst="rect">
            <a:avLst/>
          </a:prstGeom>
        </p:spPr>
        <p:txBody>
          <a:bodyPr vert="horz" lIns="91440" tIns="45720" rIns="91440" bIns="45720" rtlCol="0">
            <a:normAutofit/>
          </a:bodyPr>
          <a:lstStyle>
            <a:lvl1pPr marL="0" indent="0" algn="l" defTabSz="914400" rtl="0" eaLnBrk="1" latinLnBrk="0" hangingPunct="1">
              <a:lnSpc>
                <a:spcPct val="150000"/>
              </a:lnSpc>
              <a:spcBef>
                <a:spcPct val="30000"/>
              </a:spcBef>
              <a:spcAft>
                <a:spcPts val="1200"/>
              </a:spcAft>
              <a:buFont typeface="Arial" panose="020B0604020202020204" pitchFamily="34" charset="0"/>
              <a:buNone/>
              <a:defRPr sz="1600" kern="1200">
                <a:solidFill>
                  <a:schemeClr val="bg1">
                    <a:lumMod val="50000"/>
                  </a:schemeClr>
                </a:solidFill>
                <a:latin typeface="+mn-lt"/>
                <a:ea typeface="+mn-ea"/>
                <a:cs typeface="+mn-cs"/>
              </a:defRPr>
            </a:lvl1pPr>
            <a:lvl2pPr marL="685800" indent="-228600" algn="l" defTabSz="914400" rtl="0" eaLnBrk="1" latinLnBrk="0" hangingPunct="1">
              <a:lnSpc>
                <a:spcPct val="150000"/>
              </a:lnSpc>
              <a:spcBef>
                <a:spcPct val="30000"/>
              </a:spcBef>
              <a:spcAft>
                <a:spcPts val="1200"/>
              </a:spcAft>
              <a:buFont typeface="Arial" panose="020B0604020202020204" pitchFamily="34" charset="0"/>
              <a:buChar char="•"/>
              <a:defRPr sz="1400" kern="1200">
                <a:solidFill>
                  <a:schemeClr val="bg1">
                    <a:lumMod val="50000"/>
                  </a:schemeClr>
                </a:solidFill>
                <a:latin typeface="+mn-lt"/>
                <a:ea typeface="+mn-ea"/>
                <a:cs typeface="+mn-cs"/>
              </a:defRPr>
            </a:lvl2pPr>
            <a:lvl3pPr marL="1143000" indent="-228600" algn="l" defTabSz="914400" rtl="0" eaLnBrk="1" latinLnBrk="0" hangingPunct="1">
              <a:lnSpc>
                <a:spcPct val="150000"/>
              </a:lnSpc>
              <a:spcBef>
                <a:spcPct val="30000"/>
              </a:spcBef>
              <a:spcAft>
                <a:spcPts val="1200"/>
              </a:spcAft>
              <a:buFont typeface="Arial" panose="020B0604020202020204" pitchFamily="34" charset="0"/>
              <a:buChar char="•"/>
              <a:defRPr sz="1200" kern="1200">
                <a:solidFill>
                  <a:schemeClr val="bg1">
                    <a:lumMod val="50000"/>
                  </a:schemeClr>
                </a:solidFill>
                <a:latin typeface="+mn-lt"/>
                <a:ea typeface="+mn-ea"/>
                <a:cs typeface="+mn-cs"/>
              </a:defRPr>
            </a:lvl3pPr>
            <a:lvl4pPr marL="16002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4pPr>
            <a:lvl5pPr marL="2057400" indent="-228600" algn="l" defTabSz="914400" rtl="0" eaLnBrk="1" latinLnBrk="0" hangingPunct="1">
              <a:lnSpc>
                <a:spcPct val="150000"/>
              </a:lnSpc>
              <a:spcBef>
                <a:spcPct val="30000"/>
              </a:spcBef>
              <a:spcAft>
                <a:spcPts val="1200"/>
              </a:spcAft>
              <a:buFont typeface="Arial" panose="020B0604020202020204" pitchFamily="34" charset="0"/>
              <a:buChar char="•"/>
              <a:defRPr sz="1100" kern="1200">
                <a:solidFill>
                  <a:schemeClr val="bg1">
                    <a:lumMod val="50000"/>
                  </a:schemeClr>
                </a:solidFill>
                <a:latin typeface="+mn-lt"/>
                <a:ea typeface="+mn-ea"/>
                <a:cs typeface="+mn-cs"/>
              </a:defRPr>
            </a:lvl5pPr>
            <a:lvl6pPr marL="25146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ct val="30000"/>
              </a:spcBef>
              <a:buFont typeface="Arial" panose="020B0604020202020204" pitchFamily="34" charset="0"/>
              <a:buChar char="•"/>
              <a:defRPr sz="1800" kern="1200">
                <a:solidFill>
                  <a:schemeClr val="tx1"/>
                </a:solidFill>
                <a:latin typeface="+mn-lt"/>
                <a:ea typeface="+mn-ea"/>
                <a:cs typeface="+mn-cs"/>
              </a:defRPr>
            </a:lvl9pPr>
          </a:lstStyle>
          <a:p>
            <a:pPr marL="342900" indent="-342900">
              <a:buAutoNum type="arabicPeriod"/>
            </a:pPr>
            <a:r>
              <a:rPr lang="en-US" b="1" dirty="0" smtClean="0">
                <a:solidFill>
                  <a:schemeClr val="tx1"/>
                </a:solidFill>
              </a:rPr>
              <a:t>What are the data in this equation?</a:t>
            </a:r>
          </a:p>
          <a:p>
            <a:pPr marL="342900" indent="-342900">
              <a:buAutoNum type="arabicPeriod"/>
            </a:pPr>
            <a:r>
              <a:rPr lang="en-US" b="1" dirty="0" smtClean="0">
                <a:solidFill>
                  <a:schemeClr val="tx1"/>
                </a:solidFill>
              </a:rPr>
              <a:t>What is the information in this equation?</a:t>
            </a:r>
            <a:endParaRPr lang="en-US" b="1" dirty="0">
              <a:solidFill>
                <a:schemeClr val="tx1"/>
              </a:solidFill>
            </a:endParaRPr>
          </a:p>
        </p:txBody>
      </p:sp>
    </p:spTree>
    <p:extLst>
      <p:ext uri="{BB962C8B-B14F-4D97-AF65-F5344CB8AC3E}">
        <p14:creationId xmlns:p14="http://schemas.microsoft.com/office/powerpoint/2010/main" val="411243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Computer</a:t>
            </a:r>
          </a:p>
        </p:txBody>
      </p:sp>
      <p:sp>
        <p:nvSpPr>
          <p:cNvPr id="3" name="Content Placeholder 2"/>
          <p:cNvSpPr>
            <a:spLocks noGrp="1"/>
          </p:cNvSpPr>
          <p:nvPr>
            <p:ph idx="1"/>
          </p:nvPr>
        </p:nvSpPr>
        <p:spPr>
          <a:xfrm>
            <a:off x="786443" y="1886009"/>
            <a:ext cx="4167753" cy="4351338"/>
          </a:xfrm>
        </p:spPr>
        <p:txBody>
          <a:bodyPr/>
          <a:lstStyle/>
          <a:p>
            <a:r>
              <a:rPr lang="en-US" dirty="0">
                <a:solidFill>
                  <a:schemeClr val="tx1"/>
                </a:solidFill>
              </a:rPr>
              <a:t>The word computer comes from the word “compute”, which means, “to calculate” </a:t>
            </a:r>
          </a:p>
          <a:p>
            <a:r>
              <a:rPr lang="en-US" dirty="0">
                <a:solidFill>
                  <a:schemeClr val="tx1"/>
                </a:solidFill>
              </a:rPr>
              <a:t>Thereby, a computer is an electronic device that can perform arithmetic operations at high speed</a:t>
            </a:r>
          </a:p>
          <a:p>
            <a:r>
              <a:rPr lang="en-US" dirty="0">
                <a:solidFill>
                  <a:schemeClr val="tx1"/>
                </a:solidFill>
              </a:rPr>
              <a:t>A computer is also called a data processor because it can store, process, and retrieve data whenever desired </a:t>
            </a:r>
          </a:p>
        </p:txBody>
      </p:sp>
      <p:pic>
        <p:nvPicPr>
          <p:cNvPr id="1026" name="Picture 2" descr="Types of Computers - GeeksforGeek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24686" y="1737430"/>
            <a:ext cx="4984389" cy="35419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25771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Processing</a:t>
            </a:r>
          </a:p>
        </p:txBody>
      </p:sp>
      <p:sp>
        <p:nvSpPr>
          <p:cNvPr id="3" name="Content Placeholder 2"/>
          <p:cNvSpPr>
            <a:spLocks noGrp="1"/>
          </p:cNvSpPr>
          <p:nvPr>
            <p:ph idx="1"/>
          </p:nvPr>
        </p:nvSpPr>
        <p:spPr>
          <a:xfrm>
            <a:off x="604434" y="2903447"/>
            <a:ext cx="6045678" cy="1961371"/>
          </a:xfrm>
        </p:spPr>
        <p:txBody>
          <a:bodyPr/>
          <a:lstStyle/>
          <a:p>
            <a:r>
              <a:rPr lang="en-US" dirty="0">
                <a:solidFill>
                  <a:schemeClr val="tx1"/>
                </a:solidFill>
              </a:rPr>
              <a:t>The activity of processing data using a computer is called data processing </a:t>
            </a:r>
          </a:p>
          <a:p>
            <a:r>
              <a:rPr lang="en-US" dirty="0">
                <a:solidFill>
                  <a:schemeClr val="tx1"/>
                </a:solidFill>
              </a:rPr>
              <a:t>Data  is raw material used as input and information  is processed data obtained as output of data processing </a:t>
            </a:r>
          </a:p>
          <a:p>
            <a:endParaRPr lang="en-US" dirty="0">
              <a:solidFill>
                <a:schemeClr val="tx1"/>
              </a:solidFill>
            </a:endParaRPr>
          </a:p>
          <a:p>
            <a:endParaRPr lang="en-US" dirty="0">
              <a:solidFill>
                <a:schemeClr val="tx1"/>
              </a:solidFill>
            </a:endParaRPr>
          </a:p>
        </p:txBody>
      </p:sp>
      <p:pic>
        <p:nvPicPr>
          <p:cNvPr id="2052" name="Picture 4" descr="Difference between Data and Information - TutorialsM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39154" y="2782199"/>
            <a:ext cx="4551631" cy="22038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905684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Characteristics of Computers </a:t>
            </a:r>
            <a:endParaRPr lang="en-US" dirty="0"/>
          </a:p>
        </p:txBody>
      </p:sp>
      <p:pic>
        <p:nvPicPr>
          <p:cNvPr id="3080" name="Picture 8" descr="Characteristics of computer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6531" y="1388852"/>
            <a:ext cx="6685172" cy="53374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50087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Working of a computer</a:t>
            </a:r>
            <a:endParaRPr lang="en-US" dirty="0"/>
          </a:p>
        </p:txBody>
      </p:sp>
      <p:pic>
        <p:nvPicPr>
          <p:cNvPr id="4098" name="Picture 2" descr="Block Diagram of Computer - TutorialsMat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16028" y="1817266"/>
            <a:ext cx="6424924" cy="4393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81970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of a computer</a:t>
            </a:r>
          </a:p>
        </p:txBody>
      </p:sp>
      <p:sp>
        <p:nvSpPr>
          <p:cNvPr id="3" name="Content Placeholder 2"/>
          <p:cNvSpPr>
            <a:spLocks noGrp="1"/>
          </p:cNvSpPr>
          <p:nvPr>
            <p:ph idx="1"/>
          </p:nvPr>
        </p:nvSpPr>
        <p:spPr>
          <a:xfrm>
            <a:off x="838201" y="1825625"/>
            <a:ext cx="10281248" cy="4351338"/>
          </a:xfrm>
        </p:spPr>
        <p:txBody>
          <a:bodyPr>
            <a:noAutofit/>
          </a:bodyPr>
          <a:lstStyle/>
          <a:p>
            <a:r>
              <a:rPr lang="en-US" dirty="0">
                <a:solidFill>
                  <a:schemeClr val="tx1"/>
                </a:solidFill>
              </a:rPr>
              <a:t>The working of a computer can be broadly categorized into following </a:t>
            </a:r>
            <a:r>
              <a:rPr lang="en-US" dirty="0" smtClean="0">
                <a:solidFill>
                  <a:schemeClr val="tx1"/>
                </a:solidFill>
              </a:rPr>
              <a:t>four functions </a:t>
            </a:r>
            <a:r>
              <a:rPr lang="en-US" dirty="0">
                <a:solidFill>
                  <a:schemeClr val="tx1"/>
                </a:solidFill>
              </a:rPr>
              <a:t>or steps.</a:t>
            </a:r>
          </a:p>
          <a:p>
            <a:r>
              <a:rPr lang="en-US" dirty="0">
                <a:solidFill>
                  <a:schemeClr val="tx1"/>
                </a:solidFill>
              </a:rPr>
              <a:t>(</a:t>
            </a:r>
            <a:r>
              <a:rPr lang="en-US" dirty="0" err="1">
                <a:solidFill>
                  <a:schemeClr val="tx1"/>
                </a:solidFill>
              </a:rPr>
              <a:t>i</a:t>
            </a:r>
            <a:r>
              <a:rPr lang="en-US" dirty="0">
                <a:solidFill>
                  <a:schemeClr val="tx1"/>
                </a:solidFill>
              </a:rPr>
              <a:t>) Receive input – Accept data/information from user through various </a:t>
            </a:r>
            <a:r>
              <a:rPr lang="en-US" dirty="0" smtClean="0">
                <a:solidFill>
                  <a:schemeClr val="tx1"/>
                </a:solidFill>
              </a:rPr>
              <a:t>input devices </a:t>
            </a:r>
            <a:r>
              <a:rPr lang="en-US" dirty="0">
                <a:solidFill>
                  <a:schemeClr val="tx1"/>
                </a:solidFill>
              </a:rPr>
              <a:t>like the keyboard, mouse, scanner, etc.</a:t>
            </a:r>
          </a:p>
          <a:p>
            <a:r>
              <a:rPr lang="en-US" dirty="0">
                <a:solidFill>
                  <a:schemeClr val="tx1"/>
                </a:solidFill>
              </a:rPr>
              <a:t>(ii) Process information–Perform arithmetic or logical operations on </a:t>
            </a:r>
            <a:r>
              <a:rPr lang="en-US" dirty="0" smtClean="0">
                <a:solidFill>
                  <a:schemeClr val="tx1"/>
                </a:solidFill>
              </a:rPr>
              <a:t>data/information</a:t>
            </a:r>
            <a:r>
              <a:rPr lang="en-US" dirty="0">
                <a:solidFill>
                  <a:schemeClr val="tx1"/>
                </a:solidFill>
              </a:rPr>
              <a:t>.</a:t>
            </a:r>
          </a:p>
          <a:p>
            <a:r>
              <a:rPr lang="en-US" dirty="0">
                <a:solidFill>
                  <a:schemeClr val="tx1"/>
                </a:solidFill>
              </a:rPr>
              <a:t>(iii) Store information—Store the information in storage devices like hard </a:t>
            </a:r>
            <a:r>
              <a:rPr lang="en-US" dirty="0" smtClean="0">
                <a:solidFill>
                  <a:schemeClr val="tx1"/>
                </a:solidFill>
              </a:rPr>
              <a:t>disk, CD</a:t>
            </a:r>
            <a:r>
              <a:rPr lang="en-US" dirty="0">
                <a:solidFill>
                  <a:schemeClr val="tx1"/>
                </a:solidFill>
              </a:rPr>
              <a:t>, pen drive etc.</a:t>
            </a:r>
          </a:p>
          <a:p>
            <a:r>
              <a:rPr lang="en-US" dirty="0">
                <a:solidFill>
                  <a:schemeClr val="tx1"/>
                </a:solidFill>
              </a:rPr>
              <a:t>(iv) Produce output–Communicate information to the user through any of </a:t>
            </a:r>
            <a:r>
              <a:rPr lang="en-US" dirty="0" smtClean="0">
                <a:solidFill>
                  <a:schemeClr val="tx1"/>
                </a:solidFill>
              </a:rPr>
              <a:t>the available </a:t>
            </a:r>
            <a:r>
              <a:rPr lang="en-US" dirty="0">
                <a:solidFill>
                  <a:schemeClr val="tx1"/>
                </a:solidFill>
              </a:rPr>
              <a:t>output devices like monitor, printer, etc.</a:t>
            </a:r>
          </a:p>
        </p:txBody>
      </p:sp>
    </p:spTree>
    <p:extLst>
      <p:ext uri="{BB962C8B-B14F-4D97-AF65-F5344CB8AC3E}">
        <p14:creationId xmlns:p14="http://schemas.microsoft.com/office/powerpoint/2010/main" val="18731099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Components of a computer</a:t>
            </a:r>
            <a:endParaRPr lang="en-US" dirty="0"/>
          </a:p>
        </p:txBody>
      </p:sp>
      <p:pic>
        <p:nvPicPr>
          <p:cNvPr id="5122" name="Picture 2" descr="Components of Computer Syste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96740" y="2014297"/>
            <a:ext cx="7164753" cy="36963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726631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400" dirty="0" smtClean="0">
                <a:solidFill>
                  <a:schemeClr val="tx1"/>
                </a:solidFill>
              </a:rPr>
              <a:t>That’s all for today………..</a:t>
            </a:r>
            <a:endParaRPr lang="en-US" sz="5400" dirty="0">
              <a:solidFill>
                <a:schemeClr val="tx1"/>
              </a:solidFill>
            </a:endParaRPr>
          </a:p>
        </p:txBody>
      </p:sp>
    </p:spTree>
    <p:extLst>
      <p:ext uri="{BB962C8B-B14F-4D97-AF65-F5344CB8AC3E}">
        <p14:creationId xmlns:p14="http://schemas.microsoft.com/office/powerpoint/2010/main" val="1676716210"/>
      </p:ext>
    </p:extLst>
  </p:cSld>
  <p:clrMapOvr>
    <a:masterClrMapping/>
  </p:clrMapOvr>
  <p:timing>
    <p:tnLst>
      <p:par>
        <p:cTn id="1" dur="indefinite" restart="never" nodeType="tmRoot"/>
      </p:par>
    </p:tnLst>
  </p:timing>
</p:sld>
</file>

<file path=ppt/theme/theme1.xml><?xml version="1.0" encoding="utf-8"?>
<a:theme xmlns:a="http://schemas.openxmlformats.org/drawingml/2006/main" name="WelcomeDoc">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Segoe UI">
      <a:majorFont>
        <a:latin typeface="Segoe UI Light"/>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Welcome to PowerPoint.potx" id="{43699C43-EC89-4A55-9A99-3FD944590577}" vid="{3C36ED3A-1C33-4ECB-8650-37D568EF454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TemplateFile" ma:contentTypeID="0x0101006EDDDB5EE6D98C44930B742096920B300400F5B6D36B3EF94B4E9A635CDF2A18F5B8" ma:contentTypeVersion="72" ma:contentTypeDescription="Create a new document." ma:contentTypeScope="" ma:versionID="a23e56308344d904b51738559c3d67c9">
  <xsd:schema xmlns:xsd="http://www.w3.org/2001/XMLSchema" xmlns:xs="http://www.w3.org/2001/XMLSchema" xmlns:p="http://schemas.microsoft.com/office/2006/metadata/properties" xmlns:ns2="4873beb7-5857-4685-be1f-d57550cc96cc" targetNamespace="http://schemas.microsoft.com/office/2006/metadata/properties" ma:root="true" ma:fieldsID="cd0908cc4600e77bf5da051303e00c8d" ns2:_="">
    <xsd:import namespace="4873beb7-5857-4685-be1f-d57550cc96cc"/>
    <xsd:element name="properties">
      <xsd:complexType>
        <xsd:sequence>
          <xsd:element name="documentManagement">
            <xsd:complexType>
              <xsd:all>
                <xsd:element ref="ns2:AcquiredFrom" minOccurs="0"/>
                <xsd:element ref="ns2:UACurrentWords" minOccurs="0"/>
                <xsd:element ref="ns2:TPApplication" minOccurs="0"/>
                <xsd:element ref="ns2:ApprovalLog" minOccurs="0"/>
                <xsd:element ref="ns2:ApprovalStatus" minOccurs="0"/>
                <xsd:element ref="ns2:AssetStart" minOccurs="0"/>
                <xsd:element ref="ns2:AssetExpire" minOccurs="0"/>
                <xsd:element ref="ns2:AssetId" minOccurs="0"/>
                <xsd:element ref="ns2:IsSearchable" minOccurs="0"/>
                <xsd:element ref="ns2:AssetType" minOccurs="0"/>
                <xsd:element ref="ns2:APAuthor" minOccurs="0"/>
                <xsd:element ref="ns2:AverageRating" minOccurs="0"/>
                <xsd:element ref="ns2:BlockPublish" minOccurs="0"/>
                <xsd:element ref="ns2:BugNumber" minOccurs="0"/>
                <xsd:element ref="ns2:CampaignTagsTaxHTField0" minOccurs="0"/>
                <xsd:element ref="ns2:TPClientViewer" minOccurs="0"/>
                <xsd:element ref="ns2:ClipArtFilename" minOccurs="0"/>
                <xsd:element ref="ns2:TPCommandLine" minOccurs="0"/>
                <xsd:element ref="ns2:TPComponent" minOccurs="0"/>
                <xsd:element ref="ns2:ContentItem" minOccurs="0"/>
                <xsd:element ref="ns2:CrawlForDependencies" minOccurs="0"/>
                <xsd:element ref="ns2:CSXHash" minOccurs="0"/>
                <xsd:element ref="ns2:CSXSubmissionMarket" minOccurs="0"/>
                <xsd:element ref="ns2:CSXUpdate" minOccurs="0"/>
                <xsd:element ref="ns2:IntlLangReviewDate" minOccurs="0"/>
                <xsd:element ref="ns2:IsDeleted" minOccurs="0"/>
                <xsd:element ref="ns2:APDescription" minOccurs="0"/>
                <xsd:element ref="ns2:DirectSourceMarket" minOccurs="0"/>
                <xsd:element ref="ns2:Downloads" minOccurs="0"/>
                <xsd:element ref="ns2:DSATActionTaken" minOccurs="0"/>
                <xsd:element ref="ns2:APEditor" minOccurs="0"/>
                <xsd:element ref="ns2:EditorialStatus" minOccurs="0"/>
                <xsd:element ref="ns2:EditorialTags" minOccurs="0"/>
                <xsd:element ref="ns2:TPExecutable" minOccurs="0"/>
                <xsd:element ref="ns2:FeatureTagsTaxHTField0" minOccurs="0"/>
                <xsd:element ref="ns2:TPFriendlyName" minOccurs="0"/>
                <xsd:element ref="ns2:FriendlyTitle" minOccurs="0"/>
                <xsd:element ref="ns2:PrimaryImageGen" minOccurs="0"/>
                <xsd:element ref="ns2:HandoffToMSDN" minOccurs="0"/>
                <xsd:element ref="ns2:InProjectListLookup" minOccurs="0"/>
                <xsd:element ref="ns2:TPInstallLocation" minOccurs="0"/>
                <xsd:element ref="ns2:InternalTagsTaxHTField0" minOccurs="0"/>
                <xsd:element ref="ns2:IntlLangReview" minOccurs="0"/>
                <xsd:element ref="ns2:IntlLangReviewer" minOccurs="0"/>
                <xsd:element ref="ns2:MarketSpecific" minOccurs="0"/>
                <xsd:element ref="ns2:LastCompleteVersionLookup" minOccurs="0"/>
                <xsd:element ref="ns2:LastHandOff" minOccurs="0"/>
                <xsd:element ref="ns2:LastModifiedDateTime" minOccurs="0"/>
                <xsd:element ref="ns2:LastPreviewErrorLookup" minOccurs="0"/>
                <xsd:element ref="ns2:LastPreviewResultLookup" minOccurs="0"/>
                <xsd:element ref="ns2:LastPreviewAttemptDateLookup" minOccurs="0"/>
                <xsd:element ref="ns2:LastPreviewedByLookup" minOccurs="0"/>
                <xsd:element ref="ns2:LastPreviewTimeLookup" minOccurs="0"/>
                <xsd:element ref="ns2:LastPreviewVersionLookup" minOccurs="0"/>
                <xsd:element ref="ns2:LastPublishErrorLookup" minOccurs="0"/>
                <xsd:element ref="ns2:LastPublishResultLookup" minOccurs="0"/>
                <xsd:element ref="ns2:LastPublishAttemptDateLookup" minOccurs="0"/>
                <xsd:element ref="ns2:LastPublishedByLookup" minOccurs="0"/>
                <xsd:element ref="ns2:LastPublishTimeLookup" minOccurs="0"/>
                <xsd:element ref="ns2:LastPublishVersionLookup" minOccurs="0"/>
                <xsd:element ref="ns2:TPLaunchHelpLinkType" minOccurs="0"/>
                <xsd:element ref="ns2:LegacyData" minOccurs="0"/>
                <xsd:element ref="ns2:TPLaunchHelpLink" minOccurs="0"/>
                <xsd:element ref="ns2:LocComments" minOccurs="0"/>
                <xsd:element ref="ns2:LocLastLocAttemptVersionLookup" minOccurs="0"/>
                <xsd:element ref="ns2:LocLastLocAttemptVersionTypeLookup" minOccurs="0"/>
                <xsd:element ref="ns2:LocManualTestRequired" minOccurs="0"/>
                <xsd:element ref="ns2:LocMarketGroupTiers2" minOccurs="0"/>
                <xsd:element ref="ns2:LocNewPublishedVersionLookup" minOccurs="0"/>
                <xsd:element ref="ns2:LocOverallHandbackStatusLookup" minOccurs="0"/>
                <xsd:element ref="ns2:LocOverallLocStatusLookup" minOccurs="0"/>
                <xsd:element ref="ns2:LocOverallPreviewStatusLookup" minOccurs="0"/>
                <xsd:element ref="ns2:LocOverallPublishStatusLookup" minOccurs="0"/>
                <xsd:element ref="ns2:IntlLocPriority" minOccurs="0"/>
                <xsd:element ref="ns2:LocProcessedForHandoffsLookup" minOccurs="0"/>
                <xsd:element ref="ns2:LocProcessedForMarketsLookup" minOccurs="0"/>
                <xsd:element ref="ns2:LocPublishedDependentAssetsLookup" minOccurs="0"/>
                <xsd:element ref="ns2:LocPublishedLinkedAssetsLookup" minOccurs="0"/>
                <xsd:element ref="ns2:LocRecommendedHandoff" minOccurs="0"/>
                <xsd:element ref="ns2:LocalizationTagsTaxHTField0" minOccurs="0"/>
                <xsd:element ref="ns2:MachineTranslated" minOccurs="0"/>
                <xsd:element ref="ns2:Manager" minOccurs="0"/>
                <xsd:element ref="ns2:Markets" minOccurs="0"/>
                <xsd:element ref="ns2:Milestone" minOccurs="0"/>
                <xsd:element ref="ns2:TPNamespace" minOccurs="0"/>
                <xsd:element ref="ns2:NumericId" minOccurs="0"/>
                <xsd:element ref="ns2:NumOfRatingsLookup" minOccurs="0"/>
                <xsd:element ref="ns2:OOCacheId" minOccurs="0"/>
                <xsd:element ref="ns2:OpenTemplate" minOccurs="0"/>
                <xsd:element ref="ns2:OriginAsset" minOccurs="0"/>
                <xsd:element ref="ns2:OriginalRelease" minOccurs="0"/>
                <xsd:element ref="ns2:OriginalSourceMarket" minOccurs="0"/>
                <xsd:element ref="ns2:OutputCachingOn" minOccurs="0"/>
                <xsd:element ref="ns2:ParentAssetId" minOccurs="0"/>
                <xsd:element ref="ns2:PlannedPubDate" minOccurs="0"/>
                <xsd:element ref="ns2:PolicheckWords" minOccurs="0"/>
                <xsd:element ref="ns2:BusinessGroup" minOccurs="0"/>
                <xsd:element ref="ns2:UAProjectedTotalWords" minOccurs="0"/>
                <xsd:element ref="ns2:Provider" minOccurs="0"/>
                <xsd:element ref="ns2:Providers" minOccurs="0"/>
                <xsd:element ref="ns2:PublishStatusLookup" minOccurs="0"/>
                <xsd:element ref="ns2:PublishTargets" minOccurs="0"/>
                <xsd:element ref="ns2:RecommendationsModifier" minOccurs="0"/>
                <xsd:element ref="ns2:ArtSampleDocs" minOccurs="0"/>
                <xsd:element ref="ns2:ScenarioTagsTaxHTField0" minOccurs="0"/>
                <xsd:element ref="ns2:ShowIn" minOccurs="0"/>
                <xsd:element ref="ns2:SourceTitle" minOccurs="0"/>
                <xsd:element ref="ns2:CSXSubmissionDate" minOccurs="0"/>
                <xsd:element ref="ns2:SubmitterId" minOccurs="0"/>
                <xsd:element ref="ns2:TaxCatchAll" minOccurs="0"/>
                <xsd:element ref="ns2:TaxCatchAllLabel" minOccurs="0"/>
                <xsd:element ref="ns2:TemplateStatus" minOccurs="0"/>
                <xsd:element ref="ns2:TemplateTemplateType" minOccurs="0"/>
                <xsd:element ref="ns2:ThumbnailAssetId" minOccurs="0"/>
                <xsd:element ref="ns2:TimesCloned" minOccurs="0"/>
                <xsd:element ref="ns2:TrustLevel" minOccurs="0"/>
                <xsd:element ref="ns2:UALocComments" minOccurs="0"/>
                <xsd:element ref="ns2:UALocRecommendation" minOccurs="0"/>
                <xsd:element ref="ns2:UANotes" minOccurs="0"/>
                <xsd:element ref="ns2:TPAppVersion" minOccurs="0"/>
                <xsd:element ref="ns2:VoteCou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873beb7-5857-4685-be1f-d57550cc96cc" elementFormDefault="qualified">
    <xsd:import namespace="http://schemas.microsoft.com/office/2006/documentManagement/types"/>
    <xsd:import namespace="http://schemas.microsoft.com/office/infopath/2007/PartnerControls"/>
    <xsd:element name="AcquiredFrom" ma:index="1" nillable="true" ma:displayName="Acquired From" ma:default="Internal MS" ma:internalName="AcquiredFrom" ma:readOnly="false">
      <xsd:simpleType>
        <xsd:restriction base="dms:Choice">
          <xsd:enumeration value="Internal MS"/>
          <xsd:enumeration value="Community"/>
          <xsd:enumeration value="MVP"/>
          <xsd:enumeration value="Publisher"/>
          <xsd:enumeration value="Partner"/>
          <xsd:enumeration value="None"/>
        </xsd:restriction>
      </xsd:simpleType>
    </xsd:element>
    <xsd:element name="UACurrentWords" ma:index="2" nillable="true" ma:displayName="Actual Word Count" ma:default="" ma:internalName="UACurrentWords" ma:readOnly="false">
      <xsd:simpleType>
        <xsd:restriction base="dms:Unknown"/>
      </xsd:simpleType>
    </xsd:element>
    <xsd:element name="TPApplication" ma:index="3" nillable="true" ma:displayName="Application to Open Template With" ma:default="" ma:internalName="TPApplication">
      <xsd:simpleType>
        <xsd:restriction base="dms:Text"/>
      </xsd:simpleType>
    </xsd:element>
    <xsd:element name="ApprovalLog" ma:index="4" nillable="true" ma:displayName="Approval Log" ma:default="" ma:hidden="true" ma:internalName="ApprovalLog" ma:readOnly="false">
      <xsd:simpleType>
        <xsd:restriction base="dms:Note"/>
      </xsd:simpleType>
    </xsd:element>
    <xsd:element name="ApprovalStatus" ma:index="5" nillable="true" ma:displayName="Approval Status" ma:default="InProgress" ma:internalName="ApprovalStatus" ma:readOnly="false">
      <xsd:simpleType>
        <xsd:restriction base="dms:Choice">
          <xsd:enumeration value="InProgress"/>
          <xsd:enumeration value="Rejected"/>
          <xsd:enumeration value="Questionable"/>
          <xsd:enumeration value="ApprovedAutomatic"/>
          <xsd:enumeration value="ApprovedManual"/>
          <xsd:enumeration value="On Hold"/>
          <xsd:enumeration value="Needs Review"/>
          <xsd:enumeration value="A Violation"/>
          <xsd:enumeration value="Unpublished Violation"/>
        </xsd:restriction>
      </xsd:simpleType>
    </xsd:element>
    <xsd:element name="AssetStart" ma:index="6" nillable="true" ma:displayName="Asset Begin Date" ma:default="[Today]" ma:internalName="AssetStart" ma:readOnly="false">
      <xsd:simpleType>
        <xsd:restriction base="dms:DateTime"/>
      </xsd:simpleType>
    </xsd:element>
    <xsd:element name="AssetExpire" ma:index="7" nillable="true" ma:displayName="Asset End Date" ma:default="2029-01-01T08:00:00Z" ma:format="DateTime" ma:internalName="AssetExpire" ma:readOnly="false">
      <xsd:simpleType>
        <xsd:restriction base="dms:DateTime"/>
      </xsd:simpleType>
    </xsd:element>
    <xsd:element name="AssetId" ma:index="8" nillable="true" ma:displayName="Asset ID" ma:default="" ma:indexed="true" ma:internalName="AssetId" ma:readOnly="false">
      <xsd:simpleType>
        <xsd:restriction base="dms:Text">
          <xsd:maxLength value="255"/>
        </xsd:restriction>
      </xsd:simpleType>
    </xsd:element>
    <xsd:element name="IsSearchable" ma:index="9" nillable="true" ma:displayName="Asset Searchable?" ma:default="true" ma:internalName="IsSearchable" ma:readOnly="false">
      <xsd:simpleType>
        <xsd:restriction base="dms:Boolean"/>
      </xsd:simpleType>
    </xsd:element>
    <xsd:element name="AssetType" ma:index="10" nillable="true" ma:displayName="Asset Type" ma:default="" ma:internalName="AssetType" ma:readOnly="false">
      <xsd:simpleType>
        <xsd:restriction base="dms:Unknown"/>
      </xsd:simpleType>
    </xsd:element>
    <xsd:element name="APAuthor" ma:index="11" nillable="true" ma:displayName="Author" ma:default="" ma:list="UserInfo" ma:internalName="APAuth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AverageRating" ma:index="12" nillable="true" ma:displayName="Average Rating" ma:internalName="AverageRating" ma:readOnly="false">
      <xsd:simpleType>
        <xsd:restriction base="dms:Text"/>
      </xsd:simpleType>
    </xsd:element>
    <xsd:element name="BlockPublish" ma:index="13" nillable="true" ma:displayName="Block from Publishing?" ma:default="" ma:internalName="BlockPublish" ma:readOnly="false">
      <xsd:simpleType>
        <xsd:restriction base="dms:Boolean"/>
      </xsd:simpleType>
    </xsd:element>
    <xsd:element name="BugNumber" ma:index="14" nillable="true" ma:displayName="Bug Number" ma:default="" ma:internalName="BugNumber" ma:readOnly="false">
      <xsd:simpleType>
        <xsd:restriction base="dms:Text"/>
      </xsd:simpleType>
    </xsd:element>
    <xsd:element name="CampaignTagsTaxHTField0" ma:index="16" nillable="true" ma:taxonomy="true" ma:internalName="CampaignTagsTaxHTField0" ma:taxonomyFieldName="CampaignTags" ma:displayName="Campaigns" ma:readOnly="false" ma:default="" ma:fieldId="{1df42cc3-2301-4f11-a52a-6ead923c29ed}" ma:taxonomyMulti="true" ma:sspId="8f79753a-75d3-41f5-8ca3-40b843941b4f" ma:termSetId="ca0e50d4-faa1-44ce-961e-bb1441c60e66" ma:anchorId="00000000-0000-0000-0000-000000000000" ma:open="false" ma:isKeyword="false">
      <xsd:complexType>
        <xsd:sequence>
          <xsd:element ref="pc:Terms" minOccurs="0" maxOccurs="1"/>
        </xsd:sequence>
      </xsd:complexType>
    </xsd:element>
    <xsd:element name="TPClientViewer" ma:index="17" nillable="true" ma:displayName="Client Viewer" ma:default="" ma:internalName="TPClientViewer">
      <xsd:simpleType>
        <xsd:restriction base="dms:Text"/>
      </xsd:simpleType>
    </xsd:element>
    <xsd:element name="ClipArtFilename" ma:index="18" nillable="true" ma:displayName="Clip Art Name" ma:default="" ma:internalName="ClipArtFilename" ma:readOnly="false">
      <xsd:simpleType>
        <xsd:restriction base="dms:Text"/>
      </xsd:simpleType>
    </xsd:element>
    <xsd:element name="TPCommandLine" ma:index="19" nillable="true" ma:displayName="Command Line" ma:default="" ma:internalName="TPCommandLine">
      <xsd:simpleType>
        <xsd:restriction base="dms:Text"/>
      </xsd:simpleType>
    </xsd:element>
    <xsd:element name="TPComponent" ma:index="20" nillable="true" ma:displayName="Component" ma:default="" ma:internalName="TPComponent">
      <xsd:simpleType>
        <xsd:restriction base="dms:Text"/>
      </xsd:simpleType>
    </xsd:element>
    <xsd:element name="ContentItem" ma:index="21" nillable="true" ma:displayName="Content Item" ma:default="" ma:hidden="true" ma:internalName="ContentItem" ma:readOnly="false">
      <xsd:simpleType>
        <xsd:restriction base="dms:Unknown"/>
      </xsd:simpleType>
    </xsd:element>
    <xsd:element name="CrawlForDependencies" ma:index="23" nillable="true" ma:displayName="Crawl for Dependencies?" ma:default="true" ma:internalName="CrawlForDependencies" ma:readOnly="false">
      <xsd:simpleType>
        <xsd:restriction base="dms:Boolean"/>
      </xsd:simpleType>
    </xsd:element>
    <xsd:element name="CSXHash" ma:index="26" nillable="true" ma:displayName="CSX Hash" ma:default="" ma:indexed="true" ma:internalName="CSXHash" ma:readOnly="false">
      <xsd:simpleType>
        <xsd:restriction base="dms:Text"/>
      </xsd:simpleType>
    </xsd:element>
    <xsd:element name="CSXSubmissionMarket" ma:index="27" nillable="true" ma:displayName="CSX Submission Market" ma:default="" ma:list="{2FBD1B11-2ACE-4FDC-B5A3-635D4ADF6F1B}" ma:internalName="CSXSubmissionMarket" ma:readOnly="false" ma:showField="MarketName" ma:web="4873beb7-5857-4685-be1f-d57550cc96cc">
      <xsd:simpleType>
        <xsd:restriction base="dms:Lookup"/>
      </xsd:simpleType>
    </xsd:element>
    <xsd:element name="CSXUpdate" ma:index="28" nillable="true" ma:displayName="CSX Updated?" ma:default="false" ma:internalName="CSXUpdate" ma:readOnly="false">
      <xsd:simpleType>
        <xsd:restriction base="dms:Boolean"/>
      </xsd:simpleType>
    </xsd:element>
    <xsd:element name="IntlLangReviewDate" ma:index="29" nillable="true" ma:displayName="Date to Complete Intl QA" ma:default="" ma:internalName="IntlLangReviewDate" ma:readOnly="false">
      <xsd:simpleType>
        <xsd:restriction base="dms:DateTime"/>
      </xsd:simpleType>
    </xsd:element>
    <xsd:element name="IsDeleted" ma:index="30" nillable="true" ma:displayName="Deleted?" ma:default="" ma:internalName="IsDeleted" ma:readOnly="false">
      <xsd:simpleType>
        <xsd:restriction base="dms:Boolean"/>
      </xsd:simpleType>
    </xsd:element>
    <xsd:element name="APDescription" ma:index="31" nillable="true" ma:displayName="Description" ma:default="" ma:internalName="APDescription" ma:readOnly="false">
      <xsd:simpleType>
        <xsd:restriction base="dms:Note"/>
      </xsd:simpleType>
    </xsd:element>
    <xsd:element name="DirectSourceMarket" ma:index="32" nillable="true" ma:displayName="Direct Source Market Group" ma:default="" ma:internalName="DirectSourceMarket" ma:readOnly="false">
      <xsd:simpleType>
        <xsd:restriction base="dms:Text"/>
      </xsd:simpleType>
    </xsd:element>
    <xsd:element name="Downloads" ma:index="33" nillable="true" ma:displayName="Downloads" ma:default="0" ma:hidden="true" ma:internalName="Downloads" ma:readOnly="false">
      <xsd:simpleType>
        <xsd:restriction base="dms:Unknown"/>
      </xsd:simpleType>
    </xsd:element>
    <xsd:element name="DSATActionTaken" ma:index="34" nillable="true" ma:displayName="DSAT Action Taken" ma:default="" ma:internalName="DSATActionTaken" ma:readOnly="false">
      <xsd:simpleType>
        <xsd:restriction base="dms:Choice">
          <xsd:enumeration value="Best Bets"/>
          <xsd:enumeration value="Expire"/>
          <xsd:enumeration value="Hide"/>
          <xsd:enumeration value="None"/>
        </xsd:restriction>
      </xsd:simpleType>
    </xsd:element>
    <xsd:element name="APEditor" ma:index="35" nillable="true" ma:displayName="Editor" ma:default="" ma:list="UserInfo" ma:internalName="APEditor" ma:readOnly="fals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EditorialStatus" ma:index="36" nillable="true" ma:displayName="Editorial Status" ma:default="" ma:internalName="EditorialStatus" ma:readOnly="false">
      <xsd:simpleType>
        <xsd:restriction base="dms:Unknown"/>
      </xsd:simpleType>
    </xsd:element>
    <xsd:element name="EditorialTags" ma:index="37" nillable="true" ma:displayName="Editorial Tags" ma:default="" ma:internalName="EditorialTags">
      <xsd:simpleType>
        <xsd:restriction base="dms:Unknown"/>
      </xsd:simpleType>
    </xsd:element>
    <xsd:element name="TPExecutable" ma:index="38" nillable="true" ma:displayName="Executable" ma:default="" ma:internalName="TPExecutable">
      <xsd:simpleType>
        <xsd:restriction base="dms:Text"/>
      </xsd:simpleType>
    </xsd:element>
    <xsd:element name="FeatureTagsTaxHTField0" ma:index="40" nillable="true" ma:taxonomy="true" ma:internalName="FeatureTagsTaxHTField0" ma:taxonomyFieldName="FeatureTags" ma:displayName="Features" ma:readOnly="false" ma:default="" ma:fieldId="{7fc0d542-15c6-4882-a8e3-13bca44403fb}" ma:taxonomyMulti="true" ma:sspId="8f79753a-75d3-41f5-8ca3-40b843941b4f" ma:termSetId="f1ab6845-967d-4854-a0ba-4ec07f0f8113" ma:anchorId="00000000-0000-0000-0000-000000000000" ma:open="false" ma:isKeyword="false">
      <xsd:complexType>
        <xsd:sequence>
          <xsd:element ref="pc:Terms" minOccurs="0" maxOccurs="1"/>
        </xsd:sequence>
      </xsd:complexType>
    </xsd:element>
    <xsd:element name="TPFriendlyName" ma:index="41" nillable="true" ma:displayName="Friendly Name" ma:default="" ma:internalName="TPFriendlyName">
      <xsd:simpleType>
        <xsd:restriction base="dms:Text"/>
      </xsd:simpleType>
    </xsd:element>
    <xsd:element name="FriendlyTitle" ma:index="42" nillable="true" ma:displayName="Friendly Title" ma:default="" ma:description="Shorter title to be used when displaying search results" ma:internalName="FriendlyTitle" ma:readOnly="false">
      <xsd:simpleType>
        <xsd:restriction base="dms:Text"/>
      </xsd:simpleType>
    </xsd:element>
    <xsd:element name="PrimaryImageGen" ma:index="43" nillable="true" ma:displayName="Generate Images?" ma:default="true" ma:internalName="PrimaryImageGen">
      <xsd:simpleType>
        <xsd:restriction base="dms:Boolean"/>
      </xsd:simpleType>
    </xsd:element>
    <xsd:element name="HandoffToMSDN" ma:index="44" nillable="true" ma:displayName="Handoff To MSDN Date" ma:default="" ma:internalName="HandoffToMSDN" ma:readOnly="false">
      <xsd:simpleType>
        <xsd:restriction base="dms:DateTime"/>
      </xsd:simpleType>
    </xsd:element>
    <xsd:element name="InProjectListLookup" ma:index="45" nillable="true" ma:displayName="InProjectListLookup" ma:list="{9E343742-310B-4684-A24C-1D137CB4B230}" ma:internalName="InProjectListLookup" ma:readOnly="true" ma:showField="InProjectLis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InstallLocation" ma:index="46" nillable="true" ma:displayName="Install Location" ma:default="" ma:internalName="TPInstallLocation">
      <xsd:simpleType>
        <xsd:restriction base="dms:Text"/>
      </xsd:simpleType>
    </xsd:element>
    <xsd:element name="InternalTagsTaxHTField0" ma:index="48" nillable="true" ma:taxonomy="true" ma:internalName="InternalTagsTaxHTField0" ma:taxonomyFieldName="InternalTags" ma:displayName="Internal Tags" ma:readOnly="false" ma:default="" ma:fieldId="{1490b8a4-2706-41ec-b5e3-73176dccf34e}" ma:taxonomyMulti="true" ma:sspId="8f79753a-75d3-41f5-8ca3-40b843941b4f" ma:termSetId="82b6639e-f7fc-4c18-ad2d-003a6e707765" ma:anchorId="00000000-0000-0000-0000-000000000000" ma:open="false" ma:isKeyword="false">
      <xsd:complexType>
        <xsd:sequence>
          <xsd:element ref="pc:Terms" minOccurs="0" maxOccurs="1"/>
        </xsd:sequence>
      </xsd:complexType>
    </xsd:element>
    <xsd:element name="IntlLangReview" ma:index="49" nillable="true" ma:displayName="Intl Lang QA Review Required?" ma:default="" ma:internalName="IntlLangReview" ma:readOnly="false">
      <xsd:simpleType>
        <xsd:restriction base="dms:Boolean"/>
      </xsd:simpleType>
    </xsd:element>
    <xsd:element name="IntlLangReviewer" ma:index="50" nillable="true" ma:displayName="Intl Lang QA Reviewer" ma:default="" ma:internalName="IntlLangReviewer" ma:readOnly="false">
      <xsd:simpleType>
        <xsd:restriction base="dms:Text"/>
      </xsd:simpleType>
    </xsd:element>
    <xsd:element name="MarketSpecific" ma:index="51" nillable="true" ma:displayName="Is Market Specific?" ma:default="" ma:internalName="MarketSpecific" ma:readOnly="false">
      <xsd:simpleType>
        <xsd:restriction base="dms:Boolean"/>
      </xsd:simpleType>
    </xsd:element>
    <xsd:element name="LastCompleteVersionLookup" ma:index="52" nillable="true" ma:displayName="Last Complete Version Lookup" ma:default="" ma:list="{9E343742-310B-4684-A24C-1D137CB4B230}" ma:internalName="LastCompleteVersionLookup" ma:readOnly="true" ma:showField="LastComplete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HandOff" ma:index="53" nillable="true" ma:displayName="Last Hand-off" ma:default="" ma:internalName="LastHandOff" ma:readOnly="false">
      <xsd:simpleType>
        <xsd:restriction base="dms:DateTime"/>
      </xsd:simpleType>
    </xsd:element>
    <xsd:element name="LastModifiedDateTime" ma:index="54" nillable="true" ma:displayName="Last Modified Date" ma:default="" ma:internalName="LastModifiedDateTime" ma:readOnly="false">
      <xsd:simpleType>
        <xsd:restriction base="dms:DateTime"/>
      </xsd:simpleType>
    </xsd:element>
    <xsd:element name="LastPreviewErrorLookup" ma:index="55" nillable="true" ma:displayName="Last Preview Attempt Error" ma:default="" ma:list="{9E343742-310B-4684-A24C-1D137CB4B230}" ma:internalName="LastPreviewErrorLookup" ma:readOnly="true" ma:showField="LastPreview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ResultLookup" ma:index="56" nillable="true" ma:displayName="Last Preview Attempt Result" ma:default="" ma:list="{9E343742-310B-4684-A24C-1D137CB4B230}" ma:internalName="LastPreviewResultLookup" ma:readOnly="true" ma:showField="LastPreview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AttemptDateLookup" ma:index="57" nillable="true" ma:displayName="Last Preview Attempted On" ma:default="" ma:list="{9E343742-310B-4684-A24C-1D137CB4B230}" ma:internalName="LastPreviewAttemptDateLookup" ma:readOnly="true" ma:showField="LastPreview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edByLookup" ma:index="58" nillable="true" ma:displayName="Last Previewed By" ma:default="" ma:list="{9E343742-310B-4684-A24C-1D137CB4B230}" ma:internalName="LastPreviewedByLookup" ma:readOnly="true" ma:showField="LastPreview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TimeLookup" ma:index="59" nillable="true" ma:displayName="Last Previewed Date" ma:default="" ma:list="{9E343742-310B-4684-A24C-1D137CB4B230}" ma:internalName="LastPreviewTimeLookup" ma:readOnly="true" ma:showField="LastPreview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reviewVersionLookup" ma:index="60" nillable="true" ma:displayName="Last Previewed Version" ma:default="" ma:list="{9E343742-310B-4684-A24C-1D137CB4B230}" ma:internalName="LastPreviewVersionLookup" ma:readOnly="true" ma:showField="LastPreview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rrorLookup" ma:index="61" nillable="true" ma:displayName="Last Publish Attempt Error" ma:default="" ma:list="{9E343742-310B-4684-A24C-1D137CB4B230}" ma:internalName="LastPublishErrorLookup" ma:readOnly="true" ma:showField="LastPublishError"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ResultLookup" ma:index="62" nillable="true" ma:displayName="Last Publish Attempt Result" ma:default="" ma:list="{9E343742-310B-4684-A24C-1D137CB4B230}" ma:internalName="LastPublishResultLookup" ma:readOnly="true" ma:showField="LastPublishResult"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AttemptDateLookup" ma:index="63" nillable="true" ma:displayName="Last Publish Attempted On" ma:default="" ma:list="{9E343742-310B-4684-A24C-1D137CB4B230}" ma:internalName="LastPublishAttemptDateLookup" ma:readOnly="true" ma:showField="LastPublishAttemptDat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edByLookup" ma:index="64" nillable="true" ma:displayName="Last Published By" ma:default="" ma:list="{9E343742-310B-4684-A24C-1D137CB4B230}" ma:internalName="LastPublishedByLookup" ma:readOnly="true" ma:showField="LastPublishedBy"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TimeLookup" ma:index="65" nillable="true" ma:displayName="Last Published Date" ma:default="" ma:list="{9E343742-310B-4684-A24C-1D137CB4B230}" ma:internalName="LastPublishTimeLookup" ma:readOnly="true" ma:showField="LastPublishTi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LastPublishVersionLookup" ma:index="66" nillable="true" ma:displayName="Last Published Version" ma:default="" ma:list="{9E343742-310B-4684-A24C-1D137CB4B230}" ma:internalName="LastPublishVersionLookup" ma:readOnly="true" ma:showField="LastPublishVersion"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PLaunchHelpLinkType" ma:index="67" nillable="true" ma:displayName="Launch Help Link Type" ma:default="Template" ma:internalName="TPLaunchHelpLinkType">
      <xsd:simpleType>
        <xsd:restriction base="dms:Choice">
          <xsd:enumeration value="Template"/>
          <xsd:enumeration value="Training"/>
          <xsd:enumeration value="URL"/>
          <xsd:enumeration value="None"/>
        </xsd:restriction>
      </xsd:simpleType>
    </xsd:element>
    <xsd:element name="LegacyData" ma:index="68" nillable="true" ma:displayName="Legacy Data" ma:default="" ma:internalName="LegacyData" ma:readOnly="false">
      <xsd:simpleType>
        <xsd:restriction base="dms:Note"/>
      </xsd:simpleType>
    </xsd:element>
    <xsd:element name="TPLaunchHelpLink" ma:index="69" nillable="true" ma:displayName="Link to Launch Help Topic" ma:default="" ma:internalName="TPLaunchHelpLink">
      <xsd:simpleType>
        <xsd:restriction base="dms:Text"/>
      </xsd:simpleType>
    </xsd:element>
    <xsd:element name="LocComments" ma:index="70" nillable="true" ma:displayName="Loc Approval Comments" ma:default="" ma:internalName="LocComments" ma:readOnly="false">
      <xsd:simpleType>
        <xsd:restriction base="dms:Note"/>
      </xsd:simpleType>
    </xsd:element>
    <xsd:element name="LocLastLocAttemptVersionLookup" ma:index="71" nillable="true" ma:displayName="Loc Last Loc Attempt Version" ma:default="" ma:list="{7DD1DCEC-E449-43D3-891F-7DC62F62AD21}" ma:internalName="LocLastLocAttemptVersionLookup" ma:readOnly="false" ma:showField="LastLocAttemptVersion" ma:web="4873beb7-5857-4685-be1f-d57550cc96cc">
      <xsd:simpleType>
        <xsd:restriction base="dms:Lookup"/>
      </xsd:simpleType>
    </xsd:element>
    <xsd:element name="LocLastLocAttemptVersionTypeLookup" ma:index="72" nillable="true" ma:displayName="Loc Last Loc Attempt Version Type" ma:default="" ma:list="{7DD1DCEC-E449-43D3-891F-7DC62F62AD21}" ma:internalName="LocLastLocAttemptVersionTypeLookup" ma:readOnly="true" ma:showField="LastLocAttemptVersionType" ma:web="4873beb7-5857-4685-be1f-d57550cc96cc">
      <xsd:simpleType>
        <xsd:restriction base="dms:Lookup"/>
      </xsd:simpleType>
    </xsd:element>
    <xsd:element name="LocManualTestRequired" ma:index="73" nillable="true" ma:displayName="Loc Manual Test Required" ma:default="" ma:internalName="LocManualTestRequired" ma:readOnly="false">
      <xsd:simpleType>
        <xsd:restriction base="dms:Boolean"/>
      </xsd:simpleType>
    </xsd:element>
    <xsd:element name="LocMarketGroupTiers2" ma:index="74" nillable="true" ma:displayName="Loc Market Group Tiers" ma:internalName="LocMarketGroupTiers2" ma:readOnly="false">
      <xsd:simpleType>
        <xsd:restriction base="dms:Unknown"/>
      </xsd:simpleType>
    </xsd:element>
    <xsd:element name="LocNewPublishedVersionLookup" ma:index="75" nillable="true" ma:displayName="Loc New Published Version Lookup" ma:default="" ma:list="{7DD1DCEC-E449-43D3-891F-7DC62F62AD21}" ma:internalName="LocNewPublishedVersionLookup" ma:readOnly="true" ma:showField="NewPublishedVersion" ma:web="4873beb7-5857-4685-be1f-d57550cc96cc">
      <xsd:simpleType>
        <xsd:restriction base="dms:Lookup"/>
      </xsd:simpleType>
    </xsd:element>
    <xsd:element name="LocOverallHandbackStatusLookup" ma:index="76" nillable="true" ma:displayName="Loc Overall Handback Status" ma:default="" ma:list="{7DD1DCEC-E449-43D3-891F-7DC62F62AD21}" ma:internalName="LocOverallHandbackStatusLookup" ma:readOnly="true" ma:showField="OverallHandbackStatus" ma:web="4873beb7-5857-4685-be1f-d57550cc96cc">
      <xsd:simpleType>
        <xsd:restriction base="dms:Lookup"/>
      </xsd:simpleType>
    </xsd:element>
    <xsd:element name="LocOverallLocStatusLookup" ma:index="77" nillable="true" ma:displayName="Loc Overall Localize Status" ma:default="" ma:list="{7DD1DCEC-E449-43D3-891F-7DC62F62AD21}" ma:internalName="LocOverallLocStatusLookup" ma:readOnly="true" ma:showField="OverallLocStatus" ma:web="4873beb7-5857-4685-be1f-d57550cc96cc">
      <xsd:simpleType>
        <xsd:restriction base="dms:Lookup"/>
      </xsd:simpleType>
    </xsd:element>
    <xsd:element name="LocOverallPreviewStatusLookup" ma:index="78" nillable="true" ma:displayName="Loc Overall Preview Status" ma:default="" ma:list="{7DD1DCEC-E449-43D3-891F-7DC62F62AD21}" ma:internalName="LocOverallPreviewStatusLookup" ma:readOnly="true" ma:showField="OverallPreviewStatus" ma:web="4873beb7-5857-4685-be1f-d57550cc96cc">
      <xsd:simpleType>
        <xsd:restriction base="dms:Lookup"/>
      </xsd:simpleType>
    </xsd:element>
    <xsd:element name="LocOverallPublishStatusLookup" ma:index="79" nillable="true" ma:displayName="Loc Overall Publish Status" ma:default="" ma:list="{7DD1DCEC-E449-43D3-891F-7DC62F62AD21}" ma:internalName="LocOverallPublishStatusLookup" ma:readOnly="true" ma:showField="OverallPublishStatus" ma:web="4873beb7-5857-4685-be1f-d57550cc96cc">
      <xsd:simpleType>
        <xsd:restriction base="dms:Lookup"/>
      </xsd:simpleType>
    </xsd:element>
    <xsd:element name="IntlLocPriority" ma:index="80" nillable="true" ma:displayName="Loc Priority" ma:default="" ma:internalName="IntlLocPriority" ma:readOnly="false">
      <xsd:simpleType>
        <xsd:restriction base="dms:Unknown"/>
      </xsd:simpleType>
    </xsd:element>
    <xsd:element name="LocProcessedForHandoffsLookup" ma:index="81" nillable="true" ma:displayName="Loc Processed For Handoffs" ma:default="" ma:list="{7DD1DCEC-E449-43D3-891F-7DC62F62AD21}" ma:internalName="LocProcessedForHandoffsLookup" ma:readOnly="true" ma:showField="ProcessedForHandoffs" ma:web="4873beb7-5857-4685-be1f-d57550cc96cc">
      <xsd:simpleType>
        <xsd:restriction base="dms:Lookup"/>
      </xsd:simpleType>
    </xsd:element>
    <xsd:element name="LocProcessedForMarketsLookup" ma:index="82" nillable="true" ma:displayName="Loc Processed For Markets" ma:default="" ma:list="{7DD1DCEC-E449-43D3-891F-7DC62F62AD21}" ma:internalName="LocProcessedForMarketsLookup" ma:readOnly="true" ma:showField="ProcessedForMarkets" ma:web="4873beb7-5857-4685-be1f-d57550cc96cc">
      <xsd:simpleType>
        <xsd:restriction base="dms:Lookup"/>
      </xsd:simpleType>
    </xsd:element>
    <xsd:element name="LocPublishedDependentAssetsLookup" ma:index="83" nillable="true" ma:displayName="Loc Published Dependent Assets" ma:default="" ma:list="{7DD1DCEC-E449-43D3-891F-7DC62F62AD21}" ma:internalName="LocPublishedDependentAssetsLookup" ma:readOnly="true" ma:showField="PublishedDependentAssets" ma:web="4873beb7-5857-4685-be1f-d57550cc96cc">
      <xsd:simpleType>
        <xsd:restriction base="dms:Lookup"/>
      </xsd:simpleType>
    </xsd:element>
    <xsd:element name="LocPublishedLinkedAssetsLookup" ma:index="84" nillable="true" ma:displayName="Loc Published Linked Assets" ma:default="" ma:list="{7DD1DCEC-E449-43D3-891F-7DC62F62AD21}" ma:internalName="LocPublishedLinkedAssetsLookup" ma:readOnly="true" ma:showField="PublishedLinkedAssets" ma:web="4873beb7-5857-4685-be1f-d57550cc96cc">
      <xsd:simpleType>
        <xsd:restriction base="dms:Lookup"/>
      </xsd:simpleType>
    </xsd:element>
    <xsd:element name="LocRecommendedHandoff" ma:index="85" nillable="true" ma:displayName="Loc Recommended Handoff" ma:default="" ma:indexed="true" ma:internalName="LocRecommendedHandoff" ma:readOnly="false">
      <xsd:simpleType>
        <xsd:restriction base="dms:Text"/>
      </xsd:simpleType>
    </xsd:element>
    <xsd:element name="LocalizationTagsTaxHTField0" ma:index="87" nillable="true" ma:taxonomy="true" ma:internalName="LocalizationTagsTaxHTField0" ma:taxonomyFieldName="LocalizationTags" ma:displayName="Localization Tags" ma:readOnly="false" ma:default="" ma:fieldId="{00f02cb3-2c7c-424a-9c61-10e9b6878429}" ma:taxonomyMulti="true" ma:sspId="8f79753a-75d3-41f5-8ca3-40b843941b4f" ma:termSetId="5b7703a5-8e8b-4b58-8b31-1cea35331da3" ma:anchorId="00000000-0000-0000-0000-000000000000" ma:open="false" ma:isKeyword="false">
      <xsd:complexType>
        <xsd:sequence>
          <xsd:element ref="pc:Terms" minOccurs="0" maxOccurs="1"/>
        </xsd:sequence>
      </xsd:complexType>
    </xsd:element>
    <xsd:element name="MachineTranslated" ma:index="88" nillable="true" ma:displayName="Machine Translated" ma:default="" ma:internalName="MachineTranslated" ma:readOnly="false">
      <xsd:simpleType>
        <xsd:restriction base="dms:Boolean"/>
      </xsd:simpleType>
    </xsd:element>
    <xsd:element name="Manager" ma:index="89" nillable="true" ma:displayName="Manager" ma:hidden="true" ma:internalName="Manager" ma:readOnly="false">
      <xsd:simpleType>
        <xsd:restriction base="dms:Text"/>
      </xsd:simpleType>
    </xsd:element>
    <xsd:element name="Markets" ma:index="90" nillable="true" ma:displayName="Markets" ma:default="" ma:description="Leave blank to show in all markets" ma:list="{2FBD1B11-2ACE-4FDC-B5A3-635D4ADF6F1B}" ma:internalName="Markets" ma:readOnly="false" ma:showField="MarketName"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Milestone" ma:index="91" nillable="true" ma:displayName="Milestone" ma:default="" ma:internalName="Milestone" ma:readOnly="false">
      <xsd:simpleType>
        <xsd:restriction base="dms:Unknown"/>
      </xsd:simpleType>
    </xsd:element>
    <xsd:element name="TPNamespace" ma:index="94" nillable="true" ma:displayName="Namespace" ma:default="" ma:internalName="TPNamespace">
      <xsd:simpleType>
        <xsd:restriction base="dms:Text"/>
      </xsd:simpleType>
    </xsd:element>
    <xsd:element name="NumericId" ma:index="95" nillable="true" ma:displayName="Numeric ID" ma:default="" ma:indexed="true" ma:internalName="NumericId" ma:readOnly="false">
      <xsd:simpleType>
        <xsd:restriction base="dms:Number"/>
      </xsd:simpleType>
    </xsd:element>
    <xsd:element name="NumOfRatingsLookup" ma:index="96" nillable="true" ma:displayName="NumOfRatings" ma:default="" ma:list="{9E343742-310B-4684-A24C-1D137CB4B230}" ma:internalName="NumOfRatingsLookup" ma:readOnly="true" ma:showField="NumOfRating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OOCacheId" ma:index="97" nillable="true" ma:displayName="OOCacheId" ma:internalName="OOCacheId" ma:readOnly="false">
      <xsd:simpleType>
        <xsd:restriction base="dms:Text"/>
      </xsd:simpleType>
    </xsd:element>
    <xsd:element name="OpenTemplate" ma:index="98" nillable="true" ma:displayName="Open Template" ma:default="true" ma:internalName="OpenTemplate">
      <xsd:simpleType>
        <xsd:restriction base="dms:Boolean"/>
      </xsd:simpleType>
    </xsd:element>
    <xsd:element name="OriginAsset" ma:index="99" nillable="true" ma:displayName="Origin Asset" ma:default="" ma:internalName="OriginAsset" ma:readOnly="false">
      <xsd:simpleType>
        <xsd:restriction base="dms:Text"/>
      </xsd:simpleType>
    </xsd:element>
    <xsd:element name="OriginalRelease" ma:index="100" nillable="true" ma:displayName="Original Release" ma:default="15" ma:internalName="OriginalRelease" ma:readOnly="false">
      <xsd:simpleType>
        <xsd:restriction base="dms:Choice">
          <xsd:enumeration value="14"/>
          <xsd:enumeration value="15"/>
          <xsd:enumeration value="16"/>
        </xsd:restriction>
      </xsd:simpleType>
    </xsd:element>
    <xsd:element name="OriginalSourceMarket" ma:index="101" nillable="true" ma:displayName="Original Source Market Group" ma:default="" ma:internalName="OriginalSourceMarket" ma:readOnly="false">
      <xsd:simpleType>
        <xsd:restriction base="dms:Text"/>
      </xsd:simpleType>
    </xsd:element>
    <xsd:element name="OutputCachingOn" ma:index="102" nillable="true" ma:displayName="Output Caching" ma:default="true" ma:hidden="true" ma:internalName="OutputCachingOn" ma:readOnly="false">
      <xsd:simpleType>
        <xsd:restriction base="dms:Boolean"/>
      </xsd:simpleType>
    </xsd:element>
    <xsd:element name="ParentAssetId" ma:index="103" nillable="true" ma:displayName="Parent Asset Id" ma:default="" ma:internalName="ParentAssetId" ma:readOnly="false">
      <xsd:simpleType>
        <xsd:restriction base="dms:Text"/>
      </xsd:simpleType>
    </xsd:element>
    <xsd:element name="PlannedPubDate" ma:index="104" nillable="true" ma:displayName="Planned Publish Date" ma:default="" ma:indexed="true" ma:internalName="PlannedPubDate" ma:readOnly="false">
      <xsd:simpleType>
        <xsd:restriction base="dms:DateTime"/>
      </xsd:simpleType>
    </xsd:element>
    <xsd:element name="PolicheckWords" ma:index="105" nillable="true" ma:displayName="Policheck Words" ma:default="" ma:internalName="PolicheckWords" ma:readOnly="false">
      <xsd:simpleType>
        <xsd:restriction base="dms:Text"/>
      </xsd:simpleType>
    </xsd:element>
    <xsd:element name="BusinessGroup" ma:index="106" nillable="true" ma:displayName="Product Division Owner" ma:default="" ma:internalName="BusinessGroup" ma:readOnly="false">
      <xsd:simpleType>
        <xsd:restriction base="dms:Unknown"/>
      </xsd:simpleType>
    </xsd:element>
    <xsd:element name="UAProjectedTotalWords" ma:index="107" nillable="true" ma:displayName="Projected Word Count" ma:default="" ma:internalName="UAProjectedTotalWords" ma:readOnly="false">
      <xsd:simpleType>
        <xsd:restriction base="dms:Unknown"/>
      </xsd:simpleType>
    </xsd:element>
    <xsd:element name="Provider" ma:index="108" nillable="true" ma:displayName="Provider" ma:default="" ma:internalName="Provider" ma:readOnly="false">
      <xsd:simpleType>
        <xsd:restriction base="dms:Unknown"/>
      </xsd:simpleType>
    </xsd:element>
    <xsd:element name="Providers" ma:index="109" nillable="true" ma:displayName="Providers" ma:default="" ma:internalName="Providers">
      <xsd:simpleType>
        <xsd:restriction base="dms:Unknown"/>
      </xsd:simpleType>
    </xsd:element>
    <xsd:element name="PublishStatusLookup" ma:index="110" nillable="true" ma:displayName="Publish Status" ma:default="" ma:list="{9E343742-310B-4684-A24C-1D137CB4B230}" ma:internalName="PublishStatusLookup" ma:readOnly="false" ma:showField="PublishStatus"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PublishTargets" ma:index="111" nillable="true" ma:displayName="Publish Target" ma:default="OfficeOnlineVNext" ma:internalName="PublishTargets" ma:readOnly="false">
      <xsd:simpleType>
        <xsd:restriction base="dms:Unknown"/>
      </xsd:simpleType>
    </xsd:element>
    <xsd:element name="RecommendationsModifier" ma:index="112" nillable="true" ma:displayName="Recommendations Modifier" ma:default="" ma:internalName="RecommendationsModifier" ma:readOnly="false">
      <xsd:simpleType>
        <xsd:restriction base="dms:Number"/>
      </xsd:simpleType>
    </xsd:element>
    <xsd:element name="ArtSampleDocs" ma:index="113" nillable="true" ma:displayName="Sample Docs" ma:default="" ma:hidden="true" ma:internalName="ArtSampleDocs" ma:readOnly="false">
      <xsd:simpleType>
        <xsd:restriction base="dms:Text"/>
      </xsd:simpleType>
    </xsd:element>
    <xsd:element name="ScenarioTagsTaxHTField0" ma:index="115" nillable="true" ma:taxonomy="true" ma:internalName="ScenarioTagsTaxHTField0" ma:taxonomyFieldName="ScenarioTags" ma:displayName="Scenarios" ma:readOnly="false" ma:default="" ma:fieldId="{93aef74d-6c78-4815-8310-51477dceeccc}" ma:taxonomyMulti="true" ma:sspId="8f79753a-75d3-41f5-8ca3-40b843941b4f" ma:termSetId="4b7d5f16-e2f2-4fc0-bab3-6e8b931e57d6" ma:anchorId="00000000-0000-0000-0000-000000000000" ma:open="false" ma:isKeyword="false">
      <xsd:complexType>
        <xsd:sequence>
          <xsd:element ref="pc:Terms" minOccurs="0" maxOccurs="1"/>
        </xsd:sequence>
      </xsd:complexType>
    </xsd:element>
    <xsd:element name="ShowIn" ma:index="117" nillable="true" ma:displayName="Show In" ma:default="Show everywhere" ma:internalName="ShowIn" ma:readOnly="false">
      <xsd:simpleType>
        <xsd:restriction base="dms:Choice">
          <xsd:enumeration value="Hide on web"/>
          <xsd:enumeration value="On Web no search"/>
          <xsd:enumeration value="Show everywhere"/>
          <xsd:enumeration value="Special use only"/>
        </xsd:restriction>
      </xsd:simpleType>
    </xsd:element>
    <xsd:element name="SourceTitle" ma:index="118" nillable="true" ma:displayName="Source Title" ma:default="" ma:indexed="true" ma:internalName="SourceTitle" ma:readOnly="false">
      <xsd:simpleType>
        <xsd:restriction base="dms:Text"/>
      </xsd:simpleType>
    </xsd:element>
    <xsd:element name="CSXSubmissionDate" ma:index="119" nillable="true" ma:displayName="Submission Date" ma:default="" ma:internalName="CSXSubmissionDate" ma:readOnly="false">
      <xsd:simpleType>
        <xsd:restriction base="dms:DateTime"/>
      </xsd:simpleType>
    </xsd:element>
    <xsd:element name="SubmitterId" ma:index="120" nillable="true" ma:displayName="Submitter ID" ma:default="" ma:internalName="SubmitterId" ma:readOnly="false">
      <xsd:simpleType>
        <xsd:restriction base="dms:Text"/>
      </xsd:simpleType>
    </xsd:element>
    <xsd:element name="TaxCatchAll" ma:index="121" nillable="true" ma:displayName="Taxonomy Catch All Column" ma:hidden="true" ma:list="{530f955b-6704-4601-bd83-f81d87f1e440}" ma:internalName="TaxCatchAll" ma:showField="CatchAllData"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axCatchAllLabel" ma:index="122" nillable="true" ma:displayName="Taxonomy Catch All Column1" ma:hidden="true" ma:list="{530f955b-6704-4601-bd83-f81d87f1e440}" ma:internalName="TaxCatchAllLabel" ma:readOnly="true" ma:showField="CatchAllDataLabel" ma:web="4873beb7-5857-4685-be1f-d57550cc96cc">
      <xsd:complexType>
        <xsd:complexContent>
          <xsd:extension base="dms:MultiChoiceLookup">
            <xsd:sequence>
              <xsd:element name="Value" type="dms:Lookup" maxOccurs="unbounded" minOccurs="0" nillable="true"/>
            </xsd:sequence>
          </xsd:extension>
        </xsd:complexContent>
      </xsd:complexType>
    </xsd:element>
    <xsd:element name="TemplateStatus" ma:index="123" nillable="true" ma:displayName="Template Status" ma:default="" ma:internalName="TemplateStatus">
      <xsd:simpleType>
        <xsd:restriction base="dms:Unknown"/>
      </xsd:simpleType>
    </xsd:element>
    <xsd:element name="TemplateTemplateType" ma:index="124" nillable="true" ma:displayName="Template Type" ma:default="" ma:internalName="TemplateTemplateType">
      <xsd:simpleType>
        <xsd:restriction base="dms:Unknown"/>
      </xsd:simpleType>
    </xsd:element>
    <xsd:element name="ThumbnailAssetId" ma:index="125" nillable="true" ma:displayName="Thumbnail Image Asset" ma:default="" ma:internalName="ThumbnailAssetId" ma:readOnly="false">
      <xsd:simpleType>
        <xsd:restriction base="dms:Text"/>
      </xsd:simpleType>
    </xsd:element>
    <xsd:element name="TimesCloned" ma:index="126" nillable="true" ma:displayName="Times Cloned" ma:default="" ma:internalName="TimesCloned" ma:readOnly="false">
      <xsd:simpleType>
        <xsd:restriction base="dms:Number"/>
      </xsd:simpleType>
    </xsd:element>
    <xsd:element name="TrustLevel" ma:index="128" nillable="true" ma:displayName="Trust Level" ma:default="1 Microsoft Managed Content" ma:internalName="TrustLevel" ma:readOnly="false">
      <xsd:simpleType>
        <xsd:restriction base="dms:Unknown"/>
      </xsd:simpleType>
    </xsd:element>
    <xsd:element name="UALocComments" ma:index="129" nillable="true" ma:displayName="UA Loc Comments" ma:default="" ma:internalName="UALocComments" ma:readOnly="false">
      <xsd:simpleType>
        <xsd:restriction base="dms:Note"/>
      </xsd:simpleType>
    </xsd:element>
    <xsd:element name="UALocRecommendation" ma:index="130" nillable="true" ma:displayName="UA Loc Recommendation" ma:default="Localize" ma:internalName="UALocRecommendation" ma:readOnly="false">
      <xsd:simpleType>
        <xsd:restriction base="dms:Choice">
          <xsd:enumeration value="Localize"/>
          <xsd:enumeration value="Never Localize"/>
          <xsd:enumeration value="Priority Localize"/>
        </xsd:restriction>
      </xsd:simpleType>
    </xsd:element>
    <xsd:element name="UANotes" ma:index="131" nillable="true" ma:displayName="UA Notes" ma:default="" ma:internalName="UANotes" ma:readOnly="false">
      <xsd:simpleType>
        <xsd:restriction base="dms:Note"/>
      </xsd:simpleType>
    </xsd:element>
    <xsd:element name="TPAppVersion" ma:index="132" nillable="true" ma:displayName="Version" ma:default="" ma:internalName="TPAppVersion">
      <xsd:simpleType>
        <xsd:restriction base="dms:Text"/>
      </xsd:simpleType>
    </xsd:element>
    <xsd:element name="VoteCount" ma:index="133" nillable="true" ma:displayName="Vote Count" ma:default="" ma:internalName="VoteCount" ma:readOnly="fals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22" ma:displayName="Content Type"/>
        <xsd:element ref="dc:title" minOccurs="0" maxOccurs="1" ma:index="127"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DirectSourceMarket xmlns="4873beb7-5857-4685-be1f-d57550cc96cc" xsi:nil="true"/>
    <ApprovalStatus xmlns="4873beb7-5857-4685-be1f-d57550cc96cc">InProgress</ApprovalStatus>
    <MarketSpecific xmlns="4873beb7-5857-4685-be1f-d57550cc96cc">false</MarketSpecific>
    <LocComments xmlns="4873beb7-5857-4685-be1f-d57550cc96cc" xsi:nil="true"/>
    <ThumbnailAssetId xmlns="4873beb7-5857-4685-be1f-d57550cc96cc" xsi:nil="true"/>
    <PrimaryImageGen xmlns="4873beb7-5857-4685-be1f-d57550cc96cc">true</PrimaryImageGen>
    <LegacyData xmlns="4873beb7-5857-4685-be1f-d57550cc96cc" xsi:nil="true"/>
    <LocRecommendedHandoff xmlns="4873beb7-5857-4685-be1f-d57550cc96cc" xsi:nil="true"/>
    <BusinessGroup xmlns="4873beb7-5857-4685-be1f-d57550cc96cc" xsi:nil="true"/>
    <BlockPublish xmlns="4873beb7-5857-4685-be1f-d57550cc96cc">false</BlockPublish>
    <TPFriendlyName xmlns="4873beb7-5857-4685-be1f-d57550cc96cc" xsi:nil="true"/>
    <NumericId xmlns="4873beb7-5857-4685-be1f-d57550cc96cc" xsi:nil="true"/>
    <APEditor xmlns="4873beb7-5857-4685-be1f-d57550cc96cc">
      <UserInfo>
        <DisplayName/>
        <AccountId xsi:nil="true"/>
        <AccountType/>
      </UserInfo>
    </APEditor>
    <SourceTitle xmlns="4873beb7-5857-4685-be1f-d57550cc96cc" xsi:nil="true"/>
    <OpenTemplate xmlns="4873beb7-5857-4685-be1f-d57550cc96cc">true</OpenTemplate>
    <UALocComments xmlns="4873beb7-5857-4685-be1f-d57550cc96cc" xsi:nil="true"/>
    <ParentAssetId xmlns="4873beb7-5857-4685-be1f-d57550cc96cc" xsi:nil="true"/>
    <IntlLangReviewDate xmlns="4873beb7-5857-4685-be1f-d57550cc96cc" xsi:nil="true"/>
    <FeatureTagsTaxHTField0 xmlns="4873beb7-5857-4685-be1f-d57550cc96cc">
      <Terms xmlns="http://schemas.microsoft.com/office/infopath/2007/PartnerControls"/>
    </FeatureTagsTaxHTField0>
    <PublishStatusLookup xmlns="4873beb7-5857-4685-be1f-d57550cc96cc">
      <Value>1584528</Value>
    </PublishStatusLookup>
    <Providers xmlns="4873beb7-5857-4685-be1f-d57550cc96cc" xsi:nil="true"/>
    <MachineTranslated xmlns="4873beb7-5857-4685-be1f-d57550cc96cc">false</MachineTranslated>
    <OriginalSourceMarket xmlns="4873beb7-5857-4685-be1f-d57550cc96cc" xsi:nil="true"/>
    <APDescription xmlns="4873beb7-5857-4685-be1f-d57550cc96cc" xsi:nil="true"/>
    <ClipArtFilename xmlns="4873beb7-5857-4685-be1f-d57550cc96cc" xsi:nil="true"/>
    <ContentItem xmlns="4873beb7-5857-4685-be1f-d57550cc96cc" xsi:nil="true"/>
    <TPInstallLocation xmlns="4873beb7-5857-4685-be1f-d57550cc96cc" xsi:nil="true"/>
    <PublishTargets xmlns="4873beb7-5857-4685-be1f-d57550cc96cc">OfficeOnlineVNext</PublishTargets>
    <TimesCloned xmlns="4873beb7-5857-4685-be1f-d57550cc96cc" xsi:nil="true"/>
    <AssetStart xmlns="4873beb7-5857-4685-be1f-d57550cc96cc">2012-06-20T23:39:00+00:00</AssetStart>
    <Provider xmlns="4873beb7-5857-4685-be1f-d57550cc96cc" xsi:nil="true"/>
    <AcquiredFrom xmlns="4873beb7-5857-4685-be1f-d57550cc96cc">Internal MS</AcquiredFrom>
    <FriendlyTitle xmlns="4873beb7-5857-4685-be1f-d57550cc96cc" xsi:nil="true"/>
    <LastHandOff xmlns="4873beb7-5857-4685-be1f-d57550cc96cc" xsi:nil="true"/>
    <TPClientViewer xmlns="4873beb7-5857-4685-be1f-d57550cc96cc" xsi:nil="true"/>
    <UACurrentWords xmlns="4873beb7-5857-4685-be1f-d57550cc96cc" xsi:nil="true"/>
    <ArtSampleDocs xmlns="4873beb7-5857-4685-be1f-d57550cc96cc" xsi:nil="true"/>
    <UALocRecommendation xmlns="4873beb7-5857-4685-be1f-d57550cc96cc">Localize</UALocRecommendation>
    <Manager xmlns="4873beb7-5857-4685-be1f-d57550cc96cc" xsi:nil="true"/>
    <ShowIn xmlns="4873beb7-5857-4685-be1f-d57550cc96cc">Show everywhere</ShowIn>
    <UANotes xmlns="4873beb7-5857-4685-be1f-d57550cc96cc" xsi:nil="true"/>
    <TemplateStatus xmlns="4873beb7-5857-4685-be1f-d57550cc96cc">Complete</TemplateStatus>
    <InternalTagsTaxHTField0 xmlns="4873beb7-5857-4685-be1f-d57550cc96cc">
      <Terms xmlns="http://schemas.microsoft.com/office/infopath/2007/PartnerControls"/>
    </InternalTagsTaxHTField0>
    <CSXHash xmlns="4873beb7-5857-4685-be1f-d57550cc96cc" xsi:nil="true"/>
    <Downloads xmlns="4873beb7-5857-4685-be1f-d57550cc96cc">0</Downloads>
    <VoteCount xmlns="4873beb7-5857-4685-be1f-d57550cc96cc" xsi:nil="true"/>
    <OOCacheId xmlns="4873beb7-5857-4685-be1f-d57550cc96cc" xsi:nil="true"/>
    <IsDeleted xmlns="4873beb7-5857-4685-be1f-d57550cc96cc">false</IsDeleted>
    <AssetExpire xmlns="4873beb7-5857-4685-be1f-d57550cc96cc">2029-01-01T08:00:00+00:00</AssetExpire>
    <DSATActionTaken xmlns="4873beb7-5857-4685-be1f-d57550cc96cc" xsi:nil="true"/>
    <CSXSubmissionMarket xmlns="4873beb7-5857-4685-be1f-d57550cc96cc" xsi:nil="true"/>
    <TPExecutable xmlns="4873beb7-5857-4685-be1f-d57550cc96cc" xsi:nil="true"/>
    <SubmitterId xmlns="4873beb7-5857-4685-be1f-d57550cc96cc" xsi:nil="true"/>
    <EditorialTags xmlns="4873beb7-5857-4685-be1f-d57550cc96cc" xsi:nil="true"/>
    <ApprovalLog xmlns="4873beb7-5857-4685-be1f-d57550cc96cc" xsi:nil="true"/>
    <AssetType xmlns="4873beb7-5857-4685-be1f-d57550cc96cc">TP</AssetType>
    <BugNumber xmlns="4873beb7-5857-4685-be1f-d57550cc96cc" xsi:nil="true"/>
    <CSXSubmissionDate xmlns="4873beb7-5857-4685-be1f-d57550cc96cc" xsi:nil="true"/>
    <CSXUpdate xmlns="4873beb7-5857-4685-be1f-d57550cc96cc">false</CSXUpdate>
    <Milestone xmlns="4873beb7-5857-4685-be1f-d57550cc96cc" xsi:nil="true"/>
    <RecommendationsModifier xmlns="4873beb7-5857-4685-be1f-d57550cc96cc" xsi:nil="true"/>
    <OriginAsset xmlns="4873beb7-5857-4685-be1f-d57550cc96cc" xsi:nil="true"/>
    <TPComponent xmlns="4873beb7-5857-4685-be1f-d57550cc96cc" xsi:nil="true"/>
    <AssetId xmlns="4873beb7-5857-4685-be1f-d57550cc96cc">TP102923943</AssetId>
    <IntlLocPriority xmlns="4873beb7-5857-4685-be1f-d57550cc96cc" xsi:nil="true"/>
    <PolicheckWords xmlns="4873beb7-5857-4685-be1f-d57550cc96cc" xsi:nil="true"/>
    <TPLaunchHelpLink xmlns="4873beb7-5857-4685-be1f-d57550cc96cc" xsi:nil="true"/>
    <TPApplication xmlns="4873beb7-5857-4685-be1f-d57550cc96cc" xsi:nil="true"/>
    <CrawlForDependencies xmlns="4873beb7-5857-4685-be1f-d57550cc96cc">false</CrawlForDependencies>
    <HandoffToMSDN xmlns="4873beb7-5857-4685-be1f-d57550cc96cc" xsi:nil="true"/>
    <PlannedPubDate xmlns="4873beb7-5857-4685-be1f-d57550cc96cc" xsi:nil="true"/>
    <IntlLangReviewer xmlns="4873beb7-5857-4685-be1f-d57550cc96cc" xsi:nil="true"/>
    <TrustLevel xmlns="4873beb7-5857-4685-be1f-d57550cc96cc">1 Microsoft Managed Content</TrustLevel>
    <LocLastLocAttemptVersionLookup xmlns="4873beb7-5857-4685-be1f-d57550cc96cc">843282</LocLastLocAttemptVersionLookup>
    <IsSearchable xmlns="4873beb7-5857-4685-be1f-d57550cc96cc">true</IsSearchable>
    <TemplateTemplateType xmlns="4873beb7-5857-4685-be1f-d57550cc96cc">PowerPoint Template - Slideshow Launch</TemplateTemplateType>
    <CampaignTagsTaxHTField0 xmlns="4873beb7-5857-4685-be1f-d57550cc96cc">
      <Terms xmlns="http://schemas.microsoft.com/office/infopath/2007/PartnerControls"/>
    </CampaignTagsTaxHTField0>
    <TPNamespace xmlns="4873beb7-5857-4685-be1f-d57550cc96cc" xsi:nil="true"/>
    <TaxCatchAll xmlns="4873beb7-5857-4685-be1f-d57550cc96cc"/>
    <Markets xmlns="4873beb7-5857-4685-be1f-d57550cc96cc"/>
    <UAProjectedTotalWords xmlns="4873beb7-5857-4685-be1f-d57550cc96cc" xsi:nil="true"/>
    <IntlLangReview xmlns="4873beb7-5857-4685-be1f-d57550cc96cc">false</IntlLangReview>
    <OutputCachingOn xmlns="4873beb7-5857-4685-be1f-d57550cc96cc">false</OutputCachingOn>
    <AverageRating xmlns="4873beb7-5857-4685-be1f-d57550cc96cc" xsi:nil="true"/>
    <LocMarketGroupTiers2 xmlns="4873beb7-5857-4685-be1f-d57550cc96cc" xsi:nil="true"/>
    <APAuthor xmlns="4873beb7-5857-4685-be1f-d57550cc96cc">
      <UserInfo>
        <DisplayName>REDMOND\v-sa</DisplayName>
        <AccountId>2467</AccountId>
        <AccountType/>
      </UserInfo>
    </APAuthor>
    <LocManualTestRequired xmlns="4873beb7-5857-4685-be1f-d57550cc96cc">false</LocManualTestRequired>
    <TPCommandLine xmlns="4873beb7-5857-4685-be1f-d57550cc96cc" xsi:nil="true"/>
    <TPAppVersion xmlns="4873beb7-5857-4685-be1f-d57550cc96cc" xsi:nil="true"/>
    <EditorialStatus xmlns="4873beb7-5857-4685-be1f-d57550cc96cc">Complete</EditorialStatus>
    <LastModifiedDateTime xmlns="4873beb7-5857-4685-be1f-d57550cc96cc" xsi:nil="true"/>
    <ScenarioTagsTaxHTField0 xmlns="4873beb7-5857-4685-be1f-d57550cc96cc">
      <Terms xmlns="http://schemas.microsoft.com/office/infopath/2007/PartnerControls"/>
    </ScenarioTagsTaxHTField0>
    <OriginalRelease xmlns="4873beb7-5857-4685-be1f-d57550cc96cc">15</OriginalRelease>
    <TPLaunchHelpLinkType xmlns="4873beb7-5857-4685-be1f-d57550cc96cc">Template</TPLaunchHelpLinkType>
    <LocalizationTagsTaxHTField0 xmlns="4873beb7-5857-4685-be1f-d57550cc96cc">
      <Terms xmlns="http://schemas.microsoft.com/office/infopath/2007/PartnerControls"/>
    </LocalizationTagsTaxHTField0>
  </documentManagement>
</p:properties>
</file>

<file path=customXml/item3.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63EE7759-C66F-4EA4-9863-7EBA32518D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873beb7-5857-4685-be1f-d57550cc96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970C04F-E7AC-41AB-9C6D-1B1BB88BFF7F}">
  <ds:schemaRefs>
    <ds:schemaRef ds:uri="http://schemas.microsoft.com/office/2006/metadata/properties"/>
    <ds:schemaRef ds:uri="http://schemas.microsoft.com/office/infopath/2007/PartnerControls"/>
    <ds:schemaRef ds:uri="4873beb7-5857-4685-be1f-d57550cc96cc"/>
  </ds:schemaRefs>
</ds:datastoreItem>
</file>

<file path=customXml/itemProps3.xml><?xml version="1.0" encoding="utf-8"?>
<ds:datastoreItem xmlns:ds="http://schemas.openxmlformats.org/officeDocument/2006/customXml" ds:itemID="{C3DEC53A-9DF1-4780-BE92-17E971B7A9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Welcome to PowerPoint 2013</Template>
  <TotalTime>56</TotalTime>
  <Words>316</Words>
  <Application>Microsoft Office PowerPoint</Application>
  <PresentationFormat>Widescreen</PresentationFormat>
  <Paragraphs>31</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Segoe UI</vt:lpstr>
      <vt:lpstr>Segoe UI Light</vt:lpstr>
      <vt:lpstr>WelcomeDoc</vt:lpstr>
      <vt:lpstr>Data &amp; Information</vt:lpstr>
      <vt:lpstr>Introduction</vt:lpstr>
      <vt:lpstr>Difference between data and information</vt:lpstr>
      <vt:lpstr>Let’s Guess</vt:lpstr>
      <vt:lpstr>Computer</vt:lpstr>
      <vt:lpstr>Data Processing</vt:lpstr>
      <vt:lpstr>Characteristics of Computers </vt:lpstr>
      <vt:lpstr>Working of a computer</vt:lpstr>
      <vt:lpstr>Working of a computer</vt:lpstr>
      <vt:lpstr>Components of a computer</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&amp; Information</dc:title>
  <dc:creator>RootCode</dc:creator>
  <cp:keywords/>
  <cp:lastModifiedBy>RootCode</cp:lastModifiedBy>
  <cp:revision>6</cp:revision>
  <dcterms:created xsi:type="dcterms:W3CDTF">2024-01-29T08:22:50Z</dcterms:created>
  <dcterms:modified xsi:type="dcterms:W3CDTF">2024-01-29T09:19:48Z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_TemplateID">
    <vt:lpwstr>TC029239449991</vt:lpwstr>
  </property>
  <property fmtid="{D5CDD505-2E9C-101B-9397-08002B2CF9AE}" pid="4" name="ContentTypeId">
    <vt:lpwstr>0x0101006EDDDB5EE6D98C44930B742096920B300400F5B6D36B3EF94B4E9A635CDF2A18F5B8</vt:lpwstr>
  </property>
  <property fmtid="{D5CDD505-2E9C-101B-9397-08002B2CF9AE}" pid="5" name="FeatureTags">
    <vt:lpwstr/>
  </property>
  <property fmtid="{D5CDD505-2E9C-101B-9397-08002B2CF9AE}" pid="6" name="LocalizationTags">
    <vt:lpwstr/>
  </property>
  <property fmtid="{D5CDD505-2E9C-101B-9397-08002B2CF9AE}" pid="7" name="ScenarioTags">
    <vt:lpwstr/>
  </property>
  <property fmtid="{D5CDD505-2E9C-101B-9397-08002B2CF9AE}" pid="8" name="CampaignTags">
    <vt:lpwstr/>
  </property>
</Properties>
</file>