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2B4A6"/>
    <a:srgbClr val="734F29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31-Jan-24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I/O Devices &amp; Components </a:t>
            </a:r>
            <a:br>
              <a:rPr lang="en-US" dirty="0" smtClean="0"/>
            </a:br>
            <a:r>
              <a:rPr lang="en-US" dirty="0" smtClean="0"/>
              <a:t>of a computer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431" y="2774531"/>
            <a:ext cx="4167753" cy="194411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 input device is used to get data or instructions from the user. This data is then</a:t>
            </a:r>
          </a:p>
          <a:p>
            <a:r>
              <a:rPr lang="en-US" dirty="0">
                <a:solidFill>
                  <a:schemeClr val="tx1"/>
                </a:solidFill>
              </a:rPr>
              <a:t>passed on to CPU for processing so as to produce the desired result.</a:t>
            </a:r>
          </a:p>
        </p:txBody>
      </p:sp>
      <p:pic>
        <p:nvPicPr>
          <p:cNvPr id="1026" name="Picture 2" descr="3.7. Input and Output Devices – Information Systems for Business and Beyo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386" y="2303552"/>
            <a:ext cx="4314825" cy="288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64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670349"/>
            <a:ext cx="4167753" cy="2970662"/>
          </a:xfrm>
        </p:spPr>
        <p:txBody>
          <a:bodyPr>
            <a:normAutofit/>
          </a:bodyPr>
          <a:lstStyle/>
          <a:p>
            <a:r>
              <a:rPr lang="en-US" sz="1400" b="1" dirty="0" smtClean="0">
                <a:solidFill>
                  <a:srgbClr val="D24726"/>
                </a:solidFill>
              </a:rPr>
              <a:t>Keyboard: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The </a:t>
            </a:r>
            <a:r>
              <a:rPr lang="en-US" sz="1400" dirty="0">
                <a:solidFill>
                  <a:schemeClr val="tx1"/>
                </a:solidFill>
              </a:rPr>
              <a:t>keyboard is very much like a standard typewriter with a few additional keys.</a:t>
            </a:r>
          </a:p>
          <a:p>
            <a:r>
              <a:rPr lang="en-US" sz="1400" dirty="0">
                <a:solidFill>
                  <a:schemeClr val="tx1"/>
                </a:solidFill>
              </a:rPr>
              <a:t>Generally, we find a QWERTY keyboard with 104 keys on it. The additional </a:t>
            </a:r>
            <a:r>
              <a:rPr lang="en-US" sz="1400" dirty="0" smtClean="0">
                <a:solidFill>
                  <a:schemeClr val="tx1"/>
                </a:solidFill>
              </a:rPr>
              <a:t>keys may </a:t>
            </a:r>
            <a:r>
              <a:rPr lang="en-US" sz="1400" dirty="0">
                <a:solidFill>
                  <a:schemeClr val="tx1"/>
                </a:solidFill>
              </a:rPr>
              <a:t>be included in modern multimedia keyboards.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34" y="4856670"/>
            <a:ext cx="3169549" cy="121632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530781" y="1670349"/>
            <a:ext cx="4985483" cy="346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rgbClr val="D24726"/>
                </a:solidFill>
              </a:rPr>
              <a:t>Mouse:</a:t>
            </a:r>
          </a:p>
          <a:p>
            <a:r>
              <a:rPr lang="en-US" sz="1400" dirty="0">
                <a:solidFill>
                  <a:schemeClr val="tx1"/>
                </a:solidFill>
              </a:rPr>
              <a:t>It is basically a </a:t>
            </a:r>
            <a:r>
              <a:rPr lang="en-US" sz="1400" dirty="0" smtClean="0">
                <a:solidFill>
                  <a:schemeClr val="tx1"/>
                </a:solidFill>
              </a:rPr>
              <a:t>pointing device </a:t>
            </a:r>
            <a:r>
              <a:rPr lang="en-US" sz="1400" dirty="0">
                <a:solidFill>
                  <a:schemeClr val="tx1"/>
                </a:solidFill>
              </a:rPr>
              <a:t>that controls the movement of the cursor or pointer on a display screen. </a:t>
            </a:r>
            <a:r>
              <a:rPr lang="en-US" sz="1400" dirty="0" smtClean="0">
                <a:solidFill>
                  <a:schemeClr val="tx1"/>
                </a:solidFill>
              </a:rPr>
              <a:t>It is </a:t>
            </a:r>
            <a:r>
              <a:rPr lang="en-US" sz="1400" dirty="0">
                <a:solidFill>
                  <a:schemeClr val="tx1"/>
                </a:solidFill>
              </a:rPr>
              <a:t>a small object that you can roll along a hard and flat surface. As you move </a:t>
            </a:r>
            <a:r>
              <a:rPr lang="en-US" sz="1400" dirty="0" smtClean="0">
                <a:solidFill>
                  <a:schemeClr val="tx1"/>
                </a:solidFill>
              </a:rPr>
              <a:t>the mouse</a:t>
            </a:r>
            <a:r>
              <a:rPr lang="en-US" sz="1400" dirty="0">
                <a:solidFill>
                  <a:schemeClr val="tx1"/>
                </a:solidFill>
              </a:rPr>
              <a:t>, the pointer on the display screen moves </a:t>
            </a:r>
            <a:r>
              <a:rPr lang="en-US" sz="1400" dirty="0" smtClean="0">
                <a:solidFill>
                  <a:schemeClr val="tx1"/>
                </a:solidFill>
              </a:rPr>
              <a:t>in the </a:t>
            </a:r>
            <a:r>
              <a:rPr lang="en-US" sz="1400" dirty="0">
                <a:solidFill>
                  <a:schemeClr val="tx1"/>
                </a:solidFill>
              </a:rPr>
              <a:t>same direction.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985" y="4641011"/>
            <a:ext cx="2954292" cy="115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2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238" y="4416724"/>
            <a:ext cx="1944613" cy="20100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670349"/>
            <a:ext cx="4167753" cy="2970662"/>
          </a:xfrm>
        </p:spPr>
        <p:txBody>
          <a:bodyPr>
            <a:normAutofit/>
          </a:bodyPr>
          <a:lstStyle/>
          <a:p>
            <a:r>
              <a:rPr lang="en-US" sz="1400" b="1" dirty="0">
                <a:solidFill>
                  <a:srgbClr val="D24726"/>
                </a:solidFill>
              </a:rPr>
              <a:t>Scanner:</a:t>
            </a:r>
            <a:endParaRPr lang="en-US" sz="1400" b="1" dirty="0" smtClean="0">
              <a:solidFill>
                <a:srgbClr val="D24726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Scanner is an input device that can read text or an illustration printed on paper </a:t>
            </a:r>
            <a:r>
              <a:rPr lang="en-US" sz="1400" dirty="0" smtClean="0">
                <a:solidFill>
                  <a:schemeClr val="tx1"/>
                </a:solidFill>
              </a:rPr>
              <a:t>and translates </a:t>
            </a:r>
            <a:r>
              <a:rPr lang="en-US" sz="1400" dirty="0">
                <a:solidFill>
                  <a:schemeClr val="tx1"/>
                </a:solidFill>
              </a:rPr>
              <a:t>the information into a form that the computer can use. A scanner </a:t>
            </a:r>
            <a:r>
              <a:rPr lang="en-US" sz="1400" dirty="0" smtClean="0">
                <a:solidFill>
                  <a:schemeClr val="tx1"/>
                </a:solidFill>
              </a:rPr>
              <a:t>works by </a:t>
            </a:r>
            <a:r>
              <a:rPr lang="en-US" sz="1400" dirty="0">
                <a:solidFill>
                  <a:schemeClr val="tx1"/>
                </a:solidFill>
              </a:rPr>
              <a:t>digitizing an image - dividing it into a grid of boxes and representing each </a:t>
            </a:r>
            <a:r>
              <a:rPr lang="en-US" sz="1400" dirty="0" smtClean="0">
                <a:solidFill>
                  <a:schemeClr val="tx1"/>
                </a:solidFill>
              </a:rPr>
              <a:t>box with </a:t>
            </a:r>
            <a:r>
              <a:rPr lang="en-US" sz="1400" dirty="0">
                <a:solidFill>
                  <a:schemeClr val="tx1"/>
                </a:solidFill>
              </a:rPr>
              <a:t>either a zero or a one, depending on whether the box is filled in.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530781" y="1670349"/>
            <a:ext cx="4985483" cy="346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D24726"/>
                </a:solidFill>
              </a:rPr>
              <a:t>Optical Character Recognition (OCR):</a:t>
            </a:r>
            <a:endParaRPr lang="en-US" sz="1400" b="1" dirty="0" smtClean="0">
              <a:solidFill>
                <a:srgbClr val="D24726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An Optical Character Recognition (OCR) is a device that is used for reading </a:t>
            </a:r>
            <a:r>
              <a:rPr lang="en-US" sz="1400" dirty="0" smtClean="0">
                <a:solidFill>
                  <a:schemeClr val="tx1"/>
                </a:solidFill>
              </a:rPr>
              <a:t>text from </a:t>
            </a:r>
            <a:r>
              <a:rPr lang="en-US" sz="1400" dirty="0">
                <a:solidFill>
                  <a:schemeClr val="tx1"/>
                </a:solidFill>
              </a:rPr>
              <a:t>paper and translating the images into a form that the computer </a:t>
            </a:r>
            <a:r>
              <a:rPr lang="en-US" sz="1400" dirty="0" smtClean="0">
                <a:solidFill>
                  <a:schemeClr val="tx1"/>
                </a:solidFill>
              </a:rPr>
              <a:t>can understand</a:t>
            </a:r>
            <a:r>
              <a:rPr lang="en-US" sz="1400" dirty="0">
                <a:solidFill>
                  <a:schemeClr val="tx1"/>
                </a:solidFill>
              </a:rPr>
              <a:t>. An OCR is used to convert books, magazines and other such </a:t>
            </a:r>
            <a:r>
              <a:rPr lang="en-US" sz="1400" dirty="0" smtClean="0">
                <a:solidFill>
                  <a:schemeClr val="tx1"/>
                </a:solidFill>
              </a:rPr>
              <a:t>printed information </a:t>
            </a:r>
            <a:r>
              <a:rPr lang="en-US" sz="1400" dirty="0">
                <a:solidFill>
                  <a:schemeClr val="tx1"/>
                </a:solidFill>
              </a:rPr>
              <a:t>into digital form.</a:t>
            </a:r>
          </a:p>
        </p:txBody>
      </p:sp>
      <p:sp>
        <p:nvSpPr>
          <p:cNvPr id="8" name="AutoShape 2" descr="Solved] Which of the following can be used to extract text from an 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 descr="Optical Character Recognition R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139" y="4159339"/>
            <a:ext cx="3210766" cy="208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1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2791783"/>
            <a:ext cx="4167753" cy="2306428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Output devices receive information from the CPU and present it to the user in the</a:t>
            </a:r>
          </a:p>
          <a:p>
            <a:r>
              <a:rPr lang="en-US" sz="1400" dirty="0">
                <a:solidFill>
                  <a:schemeClr val="tx1"/>
                </a:solidFill>
              </a:rPr>
              <a:t>desired form. Some of the output devices are monitor, printers, plotters, etc.</a:t>
            </a:r>
          </a:p>
        </p:txBody>
      </p:sp>
      <p:pic>
        <p:nvPicPr>
          <p:cNvPr id="4098" name="Picture 2" descr="Output devices: Types, functi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547" y="2204731"/>
            <a:ext cx="4822466" cy="289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017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670349"/>
            <a:ext cx="4167753" cy="2970662"/>
          </a:xfrm>
        </p:spPr>
        <p:txBody>
          <a:bodyPr>
            <a:normAutofit/>
          </a:bodyPr>
          <a:lstStyle/>
          <a:p>
            <a:r>
              <a:rPr lang="en-US" sz="1400" b="1" dirty="0">
                <a:solidFill>
                  <a:srgbClr val="D24726"/>
                </a:solidFill>
              </a:rPr>
              <a:t>Monitor:</a:t>
            </a:r>
            <a:endParaRPr lang="en-US" sz="1400" b="1" dirty="0" smtClean="0">
              <a:solidFill>
                <a:srgbClr val="D24726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The monitor is just like a television screen and it is used to display data </a:t>
            </a:r>
            <a:r>
              <a:rPr lang="en-US" sz="1400" dirty="0" smtClean="0">
                <a:solidFill>
                  <a:schemeClr val="tx1"/>
                </a:solidFill>
              </a:rPr>
              <a:t>and information</a:t>
            </a:r>
            <a:r>
              <a:rPr lang="en-US" sz="1400" dirty="0">
                <a:solidFill>
                  <a:schemeClr val="tx1"/>
                </a:solidFill>
              </a:rPr>
              <a:t>. When some data or instruction is being keyed in, the monitor </a:t>
            </a:r>
            <a:r>
              <a:rPr lang="en-US" sz="1400" dirty="0" smtClean="0">
                <a:solidFill>
                  <a:schemeClr val="tx1"/>
                </a:solidFill>
              </a:rPr>
              <a:t>displays the </a:t>
            </a:r>
            <a:r>
              <a:rPr lang="en-US" sz="1400" dirty="0">
                <a:solidFill>
                  <a:schemeClr val="tx1"/>
                </a:solidFill>
              </a:rPr>
              <a:t>characters being typed..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530781" y="1670349"/>
            <a:ext cx="4985483" cy="346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D24726"/>
                </a:solidFill>
              </a:rPr>
              <a:t>Printer:</a:t>
            </a:r>
            <a:endParaRPr lang="en-US" sz="1400" b="1" dirty="0" smtClean="0">
              <a:solidFill>
                <a:srgbClr val="D24726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You must have used printer for taking printouts. Printer is a device that </a:t>
            </a:r>
            <a:r>
              <a:rPr lang="en-US" sz="1400" dirty="0" smtClean="0">
                <a:solidFill>
                  <a:schemeClr val="tx1"/>
                </a:solidFill>
              </a:rPr>
              <a:t>produces the </a:t>
            </a:r>
            <a:r>
              <a:rPr lang="en-US" sz="1400" dirty="0">
                <a:solidFill>
                  <a:schemeClr val="tx1"/>
                </a:solidFill>
              </a:rPr>
              <a:t>output on paper. Such an output is also known as hard copy and it may be </a:t>
            </a:r>
            <a:r>
              <a:rPr lang="en-US" sz="1400" dirty="0" smtClean="0">
                <a:solidFill>
                  <a:schemeClr val="tx1"/>
                </a:solidFill>
              </a:rPr>
              <a:t>in the </a:t>
            </a:r>
            <a:r>
              <a:rPr lang="en-US" sz="1400" dirty="0">
                <a:solidFill>
                  <a:schemeClr val="tx1"/>
                </a:solidFill>
              </a:rPr>
              <a:t>form of text or graphics.</a:t>
            </a:r>
          </a:p>
        </p:txBody>
      </p:sp>
      <p:pic>
        <p:nvPicPr>
          <p:cNvPr id="5122" name="Picture 2" descr="ASUS ProArt Display PA328QV 31.5 Professional Monitor price in B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7" t="16507" r="26871" b="9746"/>
          <a:stretch/>
        </p:blipFill>
        <p:spPr bwMode="auto">
          <a:xfrm>
            <a:off x="1000665" y="4009531"/>
            <a:ext cx="2666744" cy="2246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nkjet Printers - PIXMA E3470 - Canon South &amp; Southeast As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676" y="3752491"/>
            <a:ext cx="2516202" cy="222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0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Task: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6515" y="3473271"/>
            <a:ext cx="10005203" cy="607024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List out different types of I/O devices and write down about them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7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PROCESSING UNIT (CPU)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CPU is the ‘Brain of your computer’. This is because </a:t>
            </a:r>
            <a:r>
              <a:rPr lang="en-US" sz="1400" dirty="0" smtClean="0">
                <a:solidFill>
                  <a:schemeClr val="tx1"/>
                </a:solidFill>
              </a:rPr>
              <a:t>it processes </a:t>
            </a:r>
            <a:r>
              <a:rPr lang="en-US" sz="1400" dirty="0">
                <a:solidFill>
                  <a:schemeClr val="tx1"/>
                </a:solidFill>
              </a:rPr>
              <a:t>or executes the instructions given to the computer. In a microcomputer, the CPU is based on a single </a:t>
            </a:r>
            <a:r>
              <a:rPr lang="en-US" sz="1400" dirty="0" smtClean="0">
                <a:solidFill>
                  <a:schemeClr val="tx1"/>
                </a:solidFill>
              </a:rPr>
              <a:t>chip called </a:t>
            </a:r>
            <a:r>
              <a:rPr lang="en-US" sz="1400" dirty="0">
                <a:solidFill>
                  <a:schemeClr val="tx1"/>
                </a:solidFill>
              </a:rPr>
              <a:t>the microprocessor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1400" dirty="0">
                <a:solidFill>
                  <a:schemeClr val="tx1"/>
                </a:solidFill>
              </a:rPr>
              <a:t>A typical CPU has the following components: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tx1"/>
                </a:solidFill>
              </a:rPr>
              <a:t>Control </a:t>
            </a:r>
            <a:r>
              <a:rPr lang="en-US" sz="1400" dirty="0">
                <a:solidFill>
                  <a:schemeClr val="tx1"/>
                </a:solidFill>
              </a:rPr>
              <a:t>Unit (CU)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tx1"/>
                </a:solidFill>
              </a:rPr>
              <a:t>Arithmetic </a:t>
            </a:r>
            <a:r>
              <a:rPr lang="en-US" sz="1400" dirty="0">
                <a:solidFill>
                  <a:schemeClr val="tx1"/>
                </a:solidFill>
              </a:rPr>
              <a:t>Logic Unit (ALU)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tx1"/>
                </a:solidFill>
              </a:rPr>
              <a:t>Memory </a:t>
            </a:r>
            <a:r>
              <a:rPr lang="en-US" sz="1400" dirty="0">
                <a:solidFill>
                  <a:schemeClr val="tx1"/>
                </a:solidFill>
              </a:rPr>
              <a:t>Registers</a:t>
            </a:r>
          </a:p>
        </p:txBody>
      </p:sp>
      <p:pic>
        <p:nvPicPr>
          <p:cNvPr id="6146" name="Picture 2" descr="Central processing unit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17" y="1945944"/>
            <a:ext cx="5493130" cy="375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224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Unit (CU)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The Control unit manages the instructions given to the computer. It </a:t>
            </a:r>
            <a:r>
              <a:rPr lang="en-US" sz="1400" dirty="0" smtClean="0">
                <a:solidFill>
                  <a:schemeClr val="tx1"/>
                </a:solidFill>
              </a:rPr>
              <a:t>coordinates the </a:t>
            </a:r>
            <a:r>
              <a:rPr lang="en-US" sz="1400" dirty="0">
                <a:solidFill>
                  <a:schemeClr val="tx1"/>
                </a:solidFill>
              </a:rPr>
              <a:t>activities of all the other units in the system by instructing rest of </a:t>
            </a:r>
            <a:r>
              <a:rPr lang="en-US" sz="1400" dirty="0" smtClean="0">
                <a:solidFill>
                  <a:schemeClr val="tx1"/>
                </a:solidFill>
              </a:rPr>
              <a:t>the components </a:t>
            </a:r>
            <a:r>
              <a:rPr lang="en-US" sz="1400" dirty="0">
                <a:solidFill>
                  <a:schemeClr val="tx1"/>
                </a:solidFill>
              </a:rPr>
              <a:t>of the computer about how to carry out a program’s instructions. </a:t>
            </a:r>
            <a:r>
              <a:rPr lang="en-US" sz="1400" dirty="0" smtClean="0">
                <a:solidFill>
                  <a:schemeClr val="tx1"/>
                </a:solidFill>
              </a:rPr>
              <a:t>It reads </a:t>
            </a:r>
            <a:r>
              <a:rPr lang="en-US" sz="1400" dirty="0">
                <a:solidFill>
                  <a:schemeClr val="tx1"/>
                </a:solidFill>
              </a:rPr>
              <a:t>and interprets instructions from memory and transforms them in to series </a:t>
            </a:r>
            <a:r>
              <a:rPr lang="en-US" sz="1400" dirty="0" smtClean="0">
                <a:solidFill>
                  <a:schemeClr val="tx1"/>
                </a:solidFill>
              </a:rPr>
              <a:t>of signals </a:t>
            </a:r>
            <a:r>
              <a:rPr lang="en-US" sz="1400" dirty="0">
                <a:solidFill>
                  <a:schemeClr val="tx1"/>
                </a:solidFill>
              </a:rPr>
              <a:t>to be executed or stored. It also directs the movement of these </a:t>
            </a:r>
            <a:r>
              <a:rPr lang="en-US" sz="1400" dirty="0" smtClean="0">
                <a:solidFill>
                  <a:schemeClr val="tx1"/>
                </a:solidFill>
              </a:rPr>
              <a:t>electronic signals </a:t>
            </a:r>
            <a:r>
              <a:rPr lang="en-US" sz="1400" dirty="0">
                <a:solidFill>
                  <a:schemeClr val="tx1"/>
                </a:solidFill>
              </a:rPr>
              <a:t>between memory and ALU or between CPU and input/output devices.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2551" b="11298"/>
          <a:stretch/>
        </p:blipFill>
        <p:spPr>
          <a:xfrm>
            <a:off x="5005954" y="2915728"/>
            <a:ext cx="6643978" cy="194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4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Logic Unit (ALU)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153428"/>
            <a:ext cx="4167753" cy="4351338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Arithmetic Logic Unit or ALU performs two types of operations - arithmetic </a:t>
            </a:r>
            <a:r>
              <a:rPr lang="en-US" sz="1400" dirty="0" smtClean="0">
                <a:solidFill>
                  <a:schemeClr val="tx1"/>
                </a:solidFill>
              </a:rPr>
              <a:t>and logical</a:t>
            </a:r>
            <a:r>
              <a:rPr lang="en-US" sz="1400" dirty="0">
                <a:solidFill>
                  <a:schemeClr val="tx1"/>
                </a:solidFill>
              </a:rPr>
              <a:t>. Arithmetic operations are the fundamental mathematical </a:t>
            </a:r>
            <a:r>
              <a:rPr lang="en-US" sz="1400" dirty="0" smtClean="0">
                <a:solidFill>
                  <a:schemeClr val="tx1"/>
                </a:solidFill>
              </a:rPr>
              <a:t>operations consisting </a:t>
            </a:r>
            <a:r>
              <a:rPr lang="en-US" sz="1400" dirty="0">
                <a:solidFill>
                  <a:schemeClr val="tx1"/>
                </a:solidFill>
              </a:rPr>
              <a:t>of addition, subtraction, multiplication and shifting operations. </a:t>
            </a:r>
            <a:r>
              <a:rPr lang="en-US" sz="1400" dirty="0" smtClean="0">
                <a:solidFill>
                  <a:schemeClr val="tx1"/>
                </a:solidFill>
              </a:rPr>
              <a:t>Logical operations </a:t>
            </a:r>
            <a:r>
              <a:rPr lang="en-US" sz="1400" dirty="0">
                <a:solidFill>
                  <a:schemeClr val="tx1"/>
                </a:solidFill>
              </a:rPr>
              <a:t>consist of </a:t>
            </a:r>
            <a:r>
              <a:rPr lang="en-US" sz="1400" dirty="0" err="1">
                <a:solidFill>
                  <a:schemeClr val="tx1"/>
                </a:solidFill>
              </a:rPr>
              <a:t>boolean</a:t>
            </a:r>
            <a:r>
              <a:rPr lang="en-US" sz="1400" dirty="0">
                <a:solidFill>
                  <a:schemeClr val="tx1"/>
                </a:solidFill>
              </a:rPr>
              <a:t> comparisons such as AND, OR and NOT.</a:t>
            </a:r>
          </a:p>
        </p:txBody>
      </p:sp>
      <p:pic>
        <p:nvPicPr>
          <p:cNvPr id="7170" name="Picture 2" descr="Arithmetic Logic Unit | Baeldung on Computer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164" y="2035834"/>
            <a:ext cx="5415433" cy="332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63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2660799"/>
            <a:ext cx="4167753" cy="2418571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A memory register is a sort of special storage </a:t>
            </a:r>
            <a:r>
              <a:rPr lang="en-US" sz="1400" dirty="0" smtClean="0">
                <a:solidFill>
                  <a:schemeClr val="tx1"/>
                </a:solidFill>
              </a:rPr>
              <a:t>area that </a:t>
            </a:r>
            <a:r>
              <a:rPr lang="en-US" sz="1400" dirty="0">
                <a:solidFill>
                  <a:schemeClr val="tx1"/>
                </a:solidFill>
              </a:rPr>
              <a:t>holds the data and instructions temporarily during processing. Since this </a:t>
            </a:r>
            <a:r>
              <a:rPr lang="en-US" sz="1400" dirty="0" smtClean="0">
                <a:solidFill>
                  <a:schemeClr val="tx1"/>
                </a:solidFill>
              </a:rPr>
              <a:t>is internally </a:t>
            </a:r>
            <a:r>
              <a:rPr lang="en-US" sz="1400" dirty="0">
                <a:solidFill>
                  <a:schemeClr val="tx1"/>
                </a:solidFill>
              </a:rPr>
              <a:t>located in the CPU, the processing time is very less. They often </a:t>
            </a:r>
            <a:r>
              <a:rPr lang="en-US" sz="1400" dirty="0" smtClean="0">
                <a:solidFill>
                  <a:schemeClr val="tx1"/>
                </a:solidFill>
              </a:rPr>
              <a:t>hold data </a:t>
            </a:r>
            <a:r>
              <a:rPr lang="en-US" sz="1400" dirty="0">
                <a:solidFill>
                  <a:schemeClr val="tx1"/>
                </a:solidFill>
              </a:rPr>
              <a:t>for less than a millisecond. This high speed storage area make </a:t>
            </a:r>
            <a:r>
              <a:rPr lang="en-US" sz="1400" dirty="0" smtClean="0">
                <a:solidFill>
                  <a:schemeClr val="tx1"/>
                </a:solidFill>
              </a:rPr>
              <a:t>processing more </a:t>
            </a:r>
            <a:r>
              <a:rPr lang="en-US" sz="1400" dirty="0">
                <a:solidFill>
                  <a:schemeClr val="tx1"/>
                </a:solidFill>
              </a:rPr>
              <a:t>efficient.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985" y="1825625"/>
            <a:ext cx="5208816" cy="408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6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CPU and Memory work together?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4611" y="1368425"/>
            <a:ext cx="4109011" cy="511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87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62973" y="3105834"/>
            <a:ext cx="9466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That’s all for today….. See you in next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243532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47</TotalTime>
  <Words>677</Words>
  <Application>Microsoft Office PowerPoint</Application>
  <PresentationFormat>Widescreen</PresentationFormat>
  <Paragraphs>41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Segoe UI</vt:lpstr>
      <vt:lpstr>Segoe UI Light</vt:lpstr>
      <vt:lpstr>Wingdings</vt:lpstr>
      <vt:lpstr>WelcomeDoc</vt:lpstr>
      <vt:lpstr>I/O Devices &amp; Components  of a computer</vt:lpstr>
      <vt:lpstr>INPUT DEVICES</vt:lpstr>
      <vt:lpstr>INPUT DEVICES</vt:lpstr>
      <vt:lpstr>INPUT DEVICES</vt:lpstr>
      <vt:lpstr>OUTPUT DEVICES</vt:lpstr>
      <vt:lpstr>OUTPUT DEVICES</vt:lpstr>
      <vt:lpstr>Home Task:</vt:lpstr>
      <vt:lpstr>CENTRAL PROCESSING UNIT (CPU)</vt:lpstr>
      <vt:lpstr>Control Unit (CU)</vt:lpstr>
      <vt:lpstr>Arithmetic Logic Unit (ALU)</vt:lpstr>
      <vt:lpstr>Memory Registers</vt:lpstr>
      <vt:lpstr>How the CPU and Memory work together?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 Devices &amp; Components  of a computer</dc:title>
  <dc:creator>RootCode</dc:creator>
  <cp:keywords/>
  <cp:lastModifiedBy>RootCode</cp:lastModifiedBy>
  <cp:revision>5</cp:revision>
  <dcterms:created xsi:type="dcterms:W3CDTF">2024-01-31T07:46:30Z</dcterms:created>
  <dcterms:modified xsi:type="dcterms:W3CDTF">2024-01-31T08:34:08Z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