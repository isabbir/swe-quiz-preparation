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 r:id="rId5"/>
    <p:sldId id="257" r:id="rId6"/>
    <p:sldId id="258" r:id="rId7"/>
    <p:sldId id="262" r:id="rId8"/>
    <p:sldId id="259" r:id="rId9"/>
    <p:sldId id="260" r:id="rId10"/>
    <p:sldId id="261" r:id="rId11"/>
    <p:sldId id="270" r:id="rId12"/>
    <p:sldId id="263" r:id="rId13"/>
    <p:sldId id="264" r:id="rId14"/>
    <p:sldId id="26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280" autoAdjust="0"/>
  </p:normalViewPr>
  <p:slideViewPr>
    <p:cSldViewPr snapToGrid="0">
      <p:cViewPr varScale="1">
        <p:scale>
          <a:sx n="89" d="100"/>
          <a:sy n="89" d="100"/>
        </p:scale>
        <p:origin x="474"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1/27/2025</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Memory Unit</a:t>
            </a:r>
          </a:p>
        </p:txBody>
      </p:sp>
      <p:sp>
        <p:nvSpPr>
          <p:cNvPr id="3" name="Subtitle 2"/>
          <p:cNvSpPr>
            <a:spLocks noGrp="1"/>
          </p:cNvSpPr>
          <p:nvPr>
            <p:ph type="subTitle" idx="1"/>
          </p:nvPr>
        </p:nvSpPr>
        <p:spPr/>
        <p:txBody>
          <a:bodyPr>
            <a:normAutofit/>
          </a:bodyPr>
          <a:lstStyle/>
          <a:p>
            <a:r>
              <a:rPr lang="en-US" dirty="0"/>
              <a:t>Lecture 3</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rain Icon GIF [Video] [Video] | Brain tattoo, Brain icon, Brain  illust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048" y="1825625"/>
            <a:ext cx="5330757" cy="39980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Memory</a:t>
            </a:r>
          </a:p>
        </p:txBody>
      </p:sp>
      <p:sp>
        <p:nvSpPr>
          <p:cNvPr id="3" name="Content Placeholder 2"/>
          <p:cNvSpPr>
            <a:spLocks noGrp="1"/>
          </p:cNvSpPr>
          <p:nvPr>
            <p:ph idx="1"/>
          </p:nvPr>
        </p:nvSpPr>
        <p:spPr>
          <a:xfrm>
            <a:off x="477974" y="2402833"/>
            <a:ext cx="6418936" cy="2843651"/>
          </a:xfrm>
        </p:spPr>
        <p:txBody>
          <a:bodyPr>
            <a:noAutofit/>
          </a:bodyPr>
          <a:lstStyle/>
          <a:p>
            <a:r>
              <a:rPr lang="en-US" dirty="0">
                <a:solidFill>
                  <a:schemeClr val="tx1"/>
                </a:solidFill>
              </a:rPr>
              <a:t>Computer memory is the storage space in the computer, where data is to be processed and instructions required for processing are stored. It is used to store data and instructions. The memory is divided into large number of small parts called cells. Each location or cell has a unique address. For example, if the computer has 64k words, then this memory unit has 64 * 1024 = 65536 memory locations. The address of these locations varies from 0 to 65535.</a:t>
            </a:r>
          </a:p>
        </p:txBody>
      </p:sp>
    </p:spTree>
    <p:extLst>
      <p:ext uri="{BB962C8B-B14F-4D97-AF65-F5344CB8AC3E}">
        <p14:creationId xmlns:p14="http://schemas.microsoft.com/office/powerpoint/2010/main" val="28142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pic>
        <p:nvPicPr>
          <p:cNvPr id="2052" name="Picture 4" descr="Classification of Memory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85" y="1570510"/>
            <a:ext cx="8148063" cy="4830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41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Home Task</a:t>
            </a:r>
          </a:p>
        </p:txBody>
      </p:sp>
      <p:sp>
        <p:nvSpPr>
          <p:cNvPr id="3" name="Content Placeholder 2"/>
          <p:cNvSpPr>
            <a:spLocks noGrp="1"/>
          </p:cNvSpPr>
          <p:nvPr>
            <p:ph idx="1"/>
          </p:nvPr>
        </p:nvSpPr>
        <p:spPr>
          <a:xfrm>
            <a:off x="2184213" y="3568161"/>
            <a:ext cx="7589807" cy="538013"/>
          </a:xfrm>
        </p:spPr>
        <p:txBody>
          <a:bodyPr/>
          <a:lstStyle/>
          <a:p>
            <a:r>
              <a:rPr lang="en-US" dirty="0">
                <a:solidFill>
                  <a:schemeClr val="tx1"/>
                </a:solidFill>
              </a:rPr>
              <a:t>Find out the differences between </a:t>
            </a:r>
            <a:r>
              <a:rPr lang="en-US" b="1" dirty="0">
                <a:solidFill>
                  <a:schemeClr val="tx1"/>
                </a:solidFill>
              </a:rPr>
              <a:t>primary memory </a:t>
            </a:r>
            <a:r>
              <a:rPr lang="en-US" dirty="0">
                <a:solidFill>
                  <a:schemeClr val="tx1"/>
                </a:solidFill>
              </a:rPr>
              <a:t>and </a:t>
            </a:r>
            <a:r>
              <a:rPr lang="en-US" b="1" dirty="0">
                <a:solidFill>
                  <a:schemeClr val="tx1"/>
                </a:solidFill>
              </a:rPr>
              <a:t>secondary memory</a:t>
            </a:r>
            <a:endParaRPr lang="en-US" dirty="0">
              <a:solidFill>
                <a:schemeClr val="tx1"/>
              </a:solidFill>
            </a:endParaRPr>
          </a:p>
        </p:txBody>
      </p:sp>
      <p:pic>
        <p:nvPicPr>
          <p:cNvPr id="5122" name="Picture 2" descr="animated-arrow-form - AfricomGroup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rot="1808515">
            <a:off x="4987" y="1343280"/>
            <a:ext cx="3116083" cy="3116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93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421" y="0"/>
            <a:ext cx="10749367" cy="1325600"/>
          </a:xfrm>
        </p:spPr>
        <p:txBody>
          <a:bodyPr/>
          <a:lstStyle/>
          <a:p>
            <a:r>
              <a:rPr lang="en-US" dirty="0"/>
              <a:t>Measuring Memory</a:t>
            </a:r>
          </a:p>
        </p:txBody>
      </p:sp>
      <p:sp>
        <p:nvSpPr>
          <p:cNvPr id="3" name="Content Placeholder 2"/>
          <p:cNvSpPr>
            <a:spLocks noGrp="1"/>
          </p:cNvSpPr>
          <p:nvPr>
            <p:ph idx="1"/>
          </p:nvPr>
        </p:nvSpPr>
        <p:spPr>
          <a:xfrm>
            <a:off x="283421" y="1543523"/>
            <a:ext cx="6915047" cy="4662724"/>
          </a:xfrm>
        </p:spPr>
        <p:txBody>
          <a:bodyPr>
            <a:normAutofit/>
          </a:bodyPr>
          <a:lstStyle/>
          <a:p>
            <a:r>
              <a:rPr lang="en-US" dirty="0">
                <a:solidFill>
                  <a:schemeClr val="tx1"/>
                </a:solidFill>
              </a:rPr>
              <a:t>The primary or internal storage unit is made up of several small storage locations called cells. Each of these cells can store a fixed number of bits called word length. Each cell has a unique number assigned to it called the address of the cell and it is used to identify the cells.</a:t>
            </a:r>
          </a:p>
          <a:p>
            <a:r>
              <a:rPr lang="en-US" dirty="0">
                <a:solidFill>
                  <a:schemeClr val="tx1"/>
                </a:solidFill>
              </a:rPr>
              <a:t>You know that data in computer is stored in the form of 0s and 1s. Each of these digits is known as a bit. A collection of 8 bits constitutes a byte. Each cell of memory contains one character or 1 byte of data. So the capacity is defined in terms of bytes or words. However higher units of memory are Kilobytes, Megabytes, Gigabytes etc. 1 Kilobyte is equal to 1024 bytes. Thus 64 Kilobyte (KB) memory is capable of storing 64 × 1024 = 32,768 bytes.</a:t>
            </a:r>
          </a:p>
        </p:txBody>
      </p:sp>
      <p:pic>
        <p:nvPicPr>
          <p:cNvPr id="3074" name="Picture 2" descr="Computer Memory Size, Units, Bytes, KB, MB, GB and T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3263" y="1932224"/>
            <a:ext cx="4659482" cy="3211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55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Memory</a:t>
            </a:r>
          </a:p>
        </p:txBody>
      </p:sp>
      <p:sp>
        <p:nvSpPr>
          <p:cNvPr id="3" name="Content Placeholder 2"/>
          <p:cNvSpPr>
            <a:spLocks noGrp="1"/>
          </p:cNvSpPr>
          <p:nvPr>
            <p:ph idx="1"/>
          </p:nvPr>
        </p:nvSpPr>
        <p:spPr>
          <a:xfrm>
            <a:off x="673445" y="2748651"/>
            <a:ext cx="5640237" cy="2271922"/>
          </a:xfrm>
        </p:spPr>
        <p:txBody>
          <a:bodyPr/>
          <a:lstStyle/>
          <a:p>
            <a:r>
              <a:rPr lang="en-US" dirty="0">
                <a:solidFill>
                  <a:schemeClr val="tx1"/>
                </a:solidFill>
              </a:rPr>
              <a:t>Primary memory is the memory that is accessed by the processor directly. It is also known as main memory or internal memory. It helps in executing applications that are temporarily stored in a specific memory location. Primary memory is of two types – </a:t>
            </a:r>
            <a:r>
              <a:rPr lang="en-US" b="1" dirty="0">
                <a:solidFill>
                  <a:schemeClr val="tx1"/>
                </a:solidFill>
              </a:rPr>
              <a:t>RAM and ROM</a:t>
            </a:r>
            <a:r>
              <a:rPr lang="en-US" dirty="0">
                <a:solidFill>
                  <a:schemeClr val="tx1"/>
                </a:solidFill>
              </a:rPr>
              <a:t>.</a:t>
            </a:r>
          </a:p>
        </p:txBody>
      </p:sp>
      <p:pic>
        <p:nvPicPr>
          <p:cNvPr id="4" name="Picture 3"/>
          <p:cNvPicPr>
            <a:picLocks noChangeAspect="1"/>
          </p:cNvPicPr>
          <p:nvPr/>
        </p:nvPicPr>
        <p:blipFill>
          <a:blip r:embed="rId2"/>
          <a:stretch>
            <a:fillRect/>
          </a:stretch>
        </p:blipFill>
        <p:spPr>
          <a:xfrm>
            <a:off x="7144168" y="2533141"/>
            <a:ext cx="3947694" cy="2392542"/>
          </a:xfrm>
          <a:prstGeom prst="rect">
            <a:avLst/>
          </a:prstGeom>
        </p:spPr>
      </p:pic>
    </p:spTree>
    <p:extLst>
      <p:ext uri="{BB962C8B-B14F-4D97-AF65-F5344CB8AC3E}">
        <p14:creationId xmlns:p14="http://schemas.microsoft.com/office/powerpoint/2010/main" val="403690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 Access Memory (RAM)</a:t>
            </a:r>
          </a:p>
        </p:txBody>
      </p:sp>
      <p:sp>
        <p:nvSpPr>
          <p:cNvPr id="3" name="Content Placeholder 2"/>
          <p:cNvSpPr>
            <a:spLocks noGrp="1"/>
          </p:cNvSpPr>
          <p:nvPr>
            <p:ph idx="1"/>
          </p:nvPr>
        </p:nvSpPr>
        <p:spPr>
          <a:xfrm>
            <a:off x="604434" y="2757278"/>
            <a:ext cx="5407324" cy="2340933"/>
          </a:xfrm>
        </p:spPr>
        <p:txBody>
          <a:bodyPr/>
          <a:lstStyle/>
          <a:p>
            <a:r>
              <a:rPr lang="en-US" b="1" dirty="0">
                <a:solidFill>
                  <a:schemeClr val="tx1"/>
                </a:solidFill>
              </a:rPr>
              <a:t>Random Access Memory (RAM) </a:t>
            </a:r>
            <a:r>
              <a:rPr lang="en-US" dirty="0">
                <a:solidFill>
                  <a:schemeClr val="tx1"/>
                </a:solidFill>
              </a:rPr>
              <a:t>is the type of memory in which it is possible to randomly select and use any location of the memory directly to store and retrieve data. It is also called as read/write memory. Since it is volatile, the data from RAM is lost as soon as the power to the computer is switched off.</a:t>
            </a:r>
          </a:p>
        </p:txBody>
      </p:sp>
      <p:pic>
        <p:nvPicPr>
          <p:cNvPr id="4098" name="Picture 2" descr="What is RAM | Random Access Memory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5937" y="2522806"/>
            <a:ext cx="3810000" cy="280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984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09A9-A28E-4F72-8A82-2BACE4DC9F36}"/>
              </a:ext>
            </a:extLst>
          </p:cNvPr>
          <p:cNvSpPr>
            <a:spLocks noGrp="1"/>
          </p:cNvSpPr>
          <p:nvPr>
            <p:ph type="title"/>
          </p:nvPr>
        </p:nvSpPr>
        <p:spPr/>
        <p:txBody>
          <a:bodyPr/>
          <a:lstStyle/>
          <a:p>
            <a:r>
              <a:rPr lang="en-US" dirty="0"/>
              <a:t>Random Access Memory (RAM)</a:t>
            </a:r>
          </a:p>
        </p:txBody>
      </p:sp>
      <p:sp>
        <p:nvSpPr>
          <p:cNvPr id="4" name="Content Placeholder 2">
            <a:extLst>
              <a:ext uri="{FF2B5EF4-FFF2-40B4-BE49-F238E27FC236}">
                <a16:creationId xmlns:a16="http://schemas.microsoft.com/office/drawing/2014/main" id="{67B39515-B136-4383-9EF0-4589FF5B2702}"/>
              </a:ext>
            </a:extLst>
          </p:cNvPr>
          <p:cNvSpPr>
            <a:spLocks noGrp="1"/>
          </p:cNvSpPr>
          <p:nvPr>
            <p:ph idx="1"/>
          </p:nvPr>
        </p:nvSpPr>
        <p:spPr>
          <a:xfrm>
            <a:off x="2121262" y="1728705"/>
            <a:ext cx="3286079" cy="4351338"/>
          </a:xfrm>
          <a:solidFill>
            <a:schemeClr val="accent4">
              <a:lumMod val="20000"/>
              <a:lumOff val="80000"/>
            </a:schemeClr>
          </a:solidFill>
          <a:effectLst>
            <a:softEdge rad="0"/>
          </a:effectLst>
        </p:spPr>
        <p:txBody>
          <a:bodyPr/>
          <a:lstStyle/>
          <a:p>
            <a:r>
              <a:rPr lang="en-US" b="1" dirty="0">
                <a:solidFill>
                  <a:schemeClr val="tx1"/>
                </a:solidFill>
              </a:rPr>
              <a:t>Static RAM</a:t>
            </a:r>
          </a:p>
          <a:p>
            <a:pPr marL="285750" indent="-285750">
              <a:lnSpc>
                <a:spcPct val="100000"/>
              </a:lnSpc>
              <a:buFont typeface="Arial" panose="020B0604020202020204" pitchFamily="34" charset="0"/>
              <a:buChar char="•"/>
            </a:pPr>
            <a:r>
              <a:rPr lang="en-US" sz="1400" dirty="0">
                <a:solidFill>
                  <a:schemeClr val="tx1"/>
                </a:solidFill>
              </a:rPr>
              <a:t>SRAM is faster compared to DRAM.</a:t>
            </a:r>
          </a:p>
          <a:p>
            <a:pPr marL="285750" indent="-285750">
              <a:lnSpc>
                <a:spcPct val="100000"/>
              </a:lnSpc>
              <a:buFont typeface="Arial" panose="020B0604020202020204" pitchFamily="34" charset="0"/>
              <a:buChar char="•"/>
            </a:pPr>
            <a:r>
              <a:rPr lang="en-US" sz="1400" dirty="0">
                <a:solidFill>
                  <a:schemeClr val="tx1"/>
                </a:solidFill>
              </a:rPr>
              <a:t>It does not have a refreshing unit. </a:t>
            </a:r>
          </a:p>
          <a:p>
            <a:pPr marL="285750" indent="-285750">
              <a:lnSpc>
                <a:spcPct val="100000"/>
              </a:lnSpc>
              <a:buFont typeface="Arial" panose="020B0604020202020204" pitchFamily="34" charset="0"/>
              <a:buChar char="•"/>
            </a:pPr>
            <a:r>
              <a:rPr lang="en-US" sz="1400" dirty="0">
                <a:solidFill>
                  <a:schemeClr val="tx1"/>
                </a:solidFill>
              </a:rPr>
              <a:t>These are expensive.</a:t>
            </a:r>
          </a:p>
          <a:p>
            <a:pPr marL="285750" indent="-285750">
              <a:lnSpc>
                <a:spcPct val="100000"/>
              </a:lnSpc>
              <a:buFont typeface="Arial" panose="020B0604020202020204" pitchFamily="34" charset="0"/>
              <a:buChar char="•"/>
            </a:pPr>
            <a:r>
              <a:rPr lang="en-US" sz="1400" dirty="0">
                <a:solidFill>
                  <a:schemeClr val="tx1"/>
                </a:solidFill>
              </a:rPr>
              <a:t>In this bit are stored in voltage form.</a:t>
            </a:r>
          </a:p>
          <a:p>
            <a:pPr marL="285750" indent="-285750">
              <a:lnSpc>
                <a:spcPct val="100000"/>
              </a:lnSpc>
              <a:buFont typeface="Arial" panose="020B0604020202020204" pitchFamily="34" charset="0"/>
              <a:buChar char="•"/>
            </a:pPr>
            <a:r>
              <a:rPr lang="en-US" sz="1400" dirty="0">
                <a:solidFill>
                  <a:schemeClr val="tx1"/>
                </a:solidFill>
              </a:rPr>
              <a:t>SRAM has higher data transfer rate</a:t>
            </a:r>
          </a:p>
          <a:p>
            <a:pPr marL="285750" indent="-285750">
              <a:lnSpc>
                <a:spcPct val="100000"/>
              </a:lnSpc>
              <a:buFont typeface="Arial" panose="020B0604020202020204" pitchFamily="34" charset="0"/>
              <a:buChar char="•"/>
            </a:pPr>
            <a:r>
              <a:rPr lang="en-US" sz="1400" dirty="0">
                <a:solidFill>
                  <a:schemeClr val="tx1"/>
                </a:solidFill>
              </a:rPr>
              <a:t>SRAM is used in high performance applications</a:t>
            </a:r>
          </a:p>
        </p:txBody>
      </p:sp>
      <p:sp>
        <p:nvSpPr>
          <p:cNvPr id="5" name="Content Placeholder 2">
            <a:extLst>
              <a:ext uri="{FF2B5EF4-FFF2-40B4-BE49-F238E27FC236}">
                <a16:creationId xmlns:a16="http://schemas.microsoft.com/office/drawing/2014/main" id="{3851E80B-1A8E-4892-B246-93EF5A47B430}"/>
              </a:ext>
            </a:extLst>
          </p:cNvPr>
          <p:cNvSpPr txBox="1">
            <a:spLocks/>
          </p:cNvSpPr>
          <p:nvPr/>
        </p:nvSpPr>
        <p:spPr>
          <a:xfrm>
            <a:off x="6051688" y="1728705"/>
            <a:ext cx="3286079" cy="4351338"/>
          </a:xfrm>
          <a:prstGeom prst="rect">
            <a:avLst/>
          </a:prstGeom>
          <a:solidFill>
            <a:schemeClr val="accent5">
              <a:lumMod val="20000"/>
              <a:lumOff val="80000"/>
            </a:schemeClr>
          </a:solidFill>
          <a:effectLst>
            <a:softEdge rad="0"/>
          </a:effectLst>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1"/>
                </a:solidFill>
              </a:rPr>
              <a:t>Dynamic RAM</a:t>
            </a:r>
          </a:p>
          <a:p>
            <a:pPr marL="285750" indent="-285750">
              <a:lnSpc>
                <a:spcPct val="100000"/>
              </a:lnSpc>
              <a:buFont typeface="Arial" panose="020B0604020202020204" pitchFamily="34" charset="0"/>
              <a:buChar char="•"/>
            </a:pPr>
            <a:r>
              <a:rPr lang="en-US" sz="1400" dirty="0">
                <a:solidFill>
                  <a:schemeClr val="tx1"/>
                </a:solidFill>
              </a:rPr>
              <a:t>DRAM provides slow access speeds.</a:t>
            </a:r>
          </a:p>
          <a:p>
            <a:pPr marL="285750" indent="-285750">
              <a:lnSpc>
                <a:spcPct val="100000"/>
              </a:lnSpc>
              <a:buFont typeface="Arial" panose="020B0604020202020204" pitchFamily="34" charset="0"/>
              <a:buChar char="•"/>
            </a:pPr>
            <a:r>
              <a:rPr lang="en-US" sz="1400" dirty="0">
                <a:solidFill>
                  <a:schemeClr val="tx1"/>
                </a:solidFill>
              </a:rPr>
              <a:t>It has a refreshing unit. </a:t>
            </a:r>
          </a:p>
          <a:p>
            <a:pPr marL="285750" indent="-285750">
              <a:lnSpc>
                <a:spcPct val="100000"/>
              </a:lnSpc>
              <a:buFont typeface="Arial" panose="020B0604020202020204" pitchFamily="34" charset="0"/>
              <a:buChar char="•"/>
            </a:pPr>
            <a:r>
              <a:rPr lang="en-US" sz="1400" dirty="0">
                <a:solidFill>
                  <a:schemeClr val="tx1"/>
                </a:solidFill>
              </a:rPr>
              <a:t>These are cheaper.</a:t>
            </a:r>
          </a:p>
          <a:p>
            <a:pPr marL="285750" indent="-285750">
              <a:lnSpc>
                <a:spcPct val="100000"/>
              </a:lnSpc>
              <a:buFont typeface="Arial" panose="020B0604020202020204" pitchFamily="34" charset="0"/>
              <a:buChar char="•"/>
            </a:pPr>
            <a:r>
              <a:rPr lang="en-US" sz="1400" dirty="0">
                <a:solidFill>
                  <a:schemeClr val="tx1"/>
                </a:solidFill>
              </a:rPr>
              <a:t>In this bit is stored in the form of electric energy.</a:t>
            </a:r>
          </a:p>
          <a:p>
            <a:pPr marL="285750" indent="-285750">
              <a:lnSpc>
                <a:spcPct val="100000"/>
              </a:lnSpc>
              <a:buFont typeface="Arial" panose="020B0604020202020204" pitchFamily="34" charset="0"/>
              <a:buChar char="•"/>
            </a:pPr>
            <a:r>
              <a:rPr lang="en-US" sz="1400" dirty="0">
                <a:solidFill>
                  <a:schemeClr val="tx1"/>
                </a:solidFill>
              </a:rPr>
              <a:t>DRAM has lower data transfer rate</a:t>
            </a:r>
          </a:p>
          <a:p>
            <a:pPr marL="285750" indent="-285750">
              <a:lnSpc>
                <a:spcPct val="100000"/>
              </a:lnSpc>
              <a:buFont typeface="Arial" panose="020B0604020202020204" pitchFamily="34" charset="0"/>
              <a:buChar char="•"/>
            </a:pPr>
            <a:r>
              <a:rPr lang="en-US" sz="1400" dirty="0">
                <a:solidFill>
                  <a:schemeClr val="tx1"/>
                </a:solidFill>
              </a:rPr>
              <a:t>DRAM is used in general purpose applications</a:t>
            </a:r>
          </a:p>
        </p:txBody>
      </p:sp>
    </p:spTree>
    <p:extLst>
      <p:ext uri="{BB962C8B-B14F-4D97-AF65-F5344CB8AC3E}">
        <p14:creationId xmlns:p14="http://schemas.microsoft.com/office/powerpoint/2010/main" val="3619007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hat is ROM | Read-Only Memory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620" y="3002772"/>
            <a:ext cx="4572000" cy="16383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Read Only Memory (ROM)</a:t>
            </a:r>
          </a:p>
        </p:txBody>
      </p:sp>
      <p:sp>
        <p:nvSpPr>
          <p:cNvPr id="3" name="Content Placeholder 2"/>
          <p:cNvSpPr>
            <a:spLocks noGrp="1"/>
          </p:cNvSpPr>
          <p:nvPr>
            <p:ph idx="1"/>
          </p:nvPr>
        </p:nvSpPr>
        <p:spPr>
          <a:xfrm>
            <a:off x="604434" y="2351836"/>
            <a:ext cx="6813429" cy="4186986"/>
          </a:xfrm>
        </p:spPr>
        <p:txBody>
          <a:bodyPr>
            <a:normAutofit/>
          </a:bodyPr>
          <a:lstStyle/>
          <a:p>
            <a:r>
              <a:rPr lang="en-US" dirty="0">
                <a:solidFill>
                  <a:schemeClr val="tx1"/>
                </a:solidFill>
              </a:rPr>
              <a:t>This is another type of primary memory from which data can only be read. We cannot write or modify data once written on to the ROM. Also this type of primary memory is not volatile. The storage of program and data in the ROM is permanent. The ROM stores some standard processing programs supplied by the manufacturers to operate our computer. The Basic Input Output System (BIOS) is stored in the ROM. It examines and initializes the start up process of the computer and also checks various peripheral devices attached to the PC when the computer is turned ON. </a:t>
            </a:r>
          </a:p>
        </p:txBody>
      </p:sp>
    </p:spTree>
    <p:extLst>
      <p:ext uri="{BB962C8B-B14F-4D97-AF65-F5344CB8AC3E}">
        <p14:creationId xmlns:p14="http://schemas.microsoft.com/office/powerpoint/2010/main" val="2228619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Only Memory (ROM)</a:t>
            </a:r>
          </a:p>
        </p:txBody>
      </p:sp>
      <p:sp>
        <p:nvSpPr>
          <p:cNvPr id="3" name="Content Placeholder 2"/>
          <p:cNvSpPr>
            <a:spLocks noGrp="1"/>
          </p:cNvSpPr>
          <p:nvPr>
            <p:ph idx="1"/>
          </p:nvPr>
        </p:nvSpPr>
        <p:spPr>
          <a:xfrm>
            <a:off x="604434" y="1782493"/>
            <a:ext cx="3286079" cy="4351338"/>
          </a:xfrm>
          <a:solidFill>
            <a:schemeClr val="accent4">
              <a:lumMod val="20000"/>
              <a:lumOff val="80000"/>
            </a:schemeClr>
          </a:solidFill>
          <a:effectLst>
            <a:softEdge rad="0"/>
          </a:effectLst>
        </p:spPr>
        <p:txBody>
          <a:bodyPr/>
          <a:lstStyle/>
          <a:p>
            <a:r>
              <a:rPr lang="en-US" b="1" dirty="0">
                <a:solidFill>
                  <a:schemeClr val="tx1"/>
                </a:solidFill>
              </a:rPr>
              <a:t>Programmable Read Only Memory (PROM):</a:t>
            </a:r>
          </a:p>
          <a:p>
            <a:r>
              <a:rPr lang="en-US" sz="1400" dirty="0">
                <a:solidFill>
                  <a:schemeClr val="tx1"/>
                </a:solidFill>
              </a:rPr>
              <a:t>it is not possible to modify or erase programs stored in ROM, but it is possible for you to store your program in PROM chip. Once the programs are written it cannot be changed. Also the program is not lost even if power is switched off.</a:t>
            </a:r>
          </a:p>
        </p:txBody>
      </p:sp>
      <p:sp>
        <p:nvSpPr>
          <p:cNvPr id="5" name="Content Placeholder 2"/>
          <p:cNvSpPr txBox="1">
            <a:spLocks/>
          </p:cNvSpPr>
          <p:nvPr/>
        </p:nvSpPr>
        <p:spPr>
          <a:xfrm>
            <a:off x="4534860" y="1782493"/>
            <a:ext cx="3286079" cy="4351338"/>
          </a:xfrm>
          <a:prstGeom prst="rect">
            <a:avLst/>
          </a:prstGeom>
          <a:solidFill>
            <a:schemeClr val="accent5">
              <a:lumMod val="20000"/>
              <a:lumOff val="80000"/>
            </a:schemeClr>
          </a:solidFill>
          <a:effectLst>
            <a:softEdge rad="0"/>
          </a:effectLst>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1"/>
                </a:solidFill>
              </a:rPr>
              <a:t>Erasable Programmable Read Only Memory (EPROM) :</a:t>
            </a:r>
          </a:p>
          <a:p>
            <a:r>
              <a:rPr lang="en-US" sz="1400" dirty="0">
                <a:solidFill>
                  <a:schemeClr val="tx1"/>
                </a:solidFill>
              </a:rPr>
              <a:t>This type of ROM overcomes the problem of PROM and ROM. EPROM chip can be programmed time and again by erasing the information stored earlier in it. Information stored in EPROM can be erased by exposing it to ultraviolet light. This memory can be reprogrammed using a special programming facility.</a:t>
            </a:r>
          </a:p>
        </p:txBody>
      </p:sp>
      <p:sp>
        <p:nvSpPr>
          <p:cNvPr id="6" name="Content Placeholder 2"/>
          <p:cNvSpPr txBox="1">
            <a:spLocks/>
          </p:cNvSpPr>
          <p:nvPr/>
        </p:nvSpPr>
        <p:spPr>
          <a:xfrm>
            <a:off x="8465287" y="1782493"/>
            <a:ext cx="3286079" cy="4351338"/>
          </a:xfrm>
          <a:prstGeom prst="rect">
            <a:avLst/>
          </a:prstGeom>
          <a:solidFill>
            <a:schemeClr val="accent2">
              <a:lumMod val="20000"/>
              <a:lumOff val="80000"/>
            </a:schemeClr>
          </a:solidFill>
          <a:effectLst>
            <a:softEdge rad="0"/>
          </a:effectLst>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1"/>
                </a:solidFill>
              </a:rPr>
              <a:t>Electrically Erasable Programmable Read Only Memory(EEPROM):</a:t>
            </a:r>
          </a:p>
          <a:p>
            <a:r>
              <a:rPr lang="en-US" sz="1400" dirty="0">
                <a:solidFill>
                  <a:schemeClr val="tx1"/>
                </a:solidFill>
              </a:rPr>
              <a:t>The only difference is that unlike EPROM, electrical signals are used to erase the contents of EEPROM. Also, this type of ROM need not be completely erased. Partial modification of ROM is possible.</a:t>
            </a:r>
          </a:p>
        </p:txBody>
      </p:sp>
    </p:spTree>
    <p:extLst>
      <p:ext uri="{BB962C8B-B14F-4D97-AF65-F5344CB8AC3E}">
        <p14:creationId xmlns:p14="http://schemas.microsoft.com/office/powerpoint/2010/main" val="3774126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Memory</a:t>
            </a:r>
          </a:p>
        </p:txBody>
      </p:sp>
      <p:sp>
        <p:nvSpPr>
          <p:cNvPr id="3" name="Content Placeholder 2"/>
          <p:cNvSpPr>
            <a:spLocks noGrp="1"/>
          </p:cNvSpPr>
          <p:nvPr>
            <p:ph idx="1"/>
          </p:nvPr>
        </p:nvSpPr>
        <p:spPr>
          <a:xfrm>
            <a:off x="604434" y="1911889"/>
            <a:ext cx="6279445" cy="4135228"/>
          </a:xfrm>
          <a:noFill/>
        </p:spPr>
        <p:txBody>
          <a:bodyPr/>
          <a:lstStyle/>
          <a:p>
            <a:r>
              <a:rPr lang="en-US" dirty="0">
                <a:solidFill>
                  <a:schemeClr val="tx1"/>
                </a:solidFill>
              </a:rPr>
              <a:t>This type of memory is also known as external memory or non-volatile. It is slower than the main memory. These are used for storing data/information permanently. CPU directly does not access these memories, instead they are accessed via input-output routines. The contents of secondary memories are first transferred to the main memory, and then the CPU can access it. For example, disk, CD-ROM, DVD, etc.</a:t>
            </a:r>
          </a:p>
          <a:p>
            <a:r>
              <a:rPr lang="en-US" dirty="0">
                <a:solidFill>
                  <a:schemeClr val="tx1"/>
                </a:solidFill>
              </a:rPr>
              <a:t>Find out more info about </a:t>
            </a:r>
            <a:r>
              <a:rPr lang="en-US" b="1" dirty="0">
                <a:solidFill>
                  <a:schemeClr val="tx1"/>
                </a:solidFill>
              </a:rPr>
              <a:t>Magnetic Tape, Magnetic Disk, </a:t>
            </a:r>
            <a:r>
              <a:rPr lang="en-US" b="1" dirty="0" err="1">
                <a:solidFill>
                  <a:schemeClr val="tx1"/>
                </a:solidFill>
              </a:rPr>
              <a:t>Floopy</a:t>
            </a:r>
            <a:r>
              <a:rPr lang="en-US" b="1" dirty="0">
                <a:solidFill>
                  <a:schemeClr val="tx1"/>
                </a:solidFill>
              </a:rPr>
              <a:t> Disk, HDD.</a:t>
            </a:r>
            <a:endParaRPr lang="en-US" dirty="0">
              <a:solidFill>
                <a:schemeClr val="tx1"/>
              </a:solidFill>
            </a:endParaRPr>
          </a:p>
        </p:txBody>
      </p:sp>
      <p:pic>
        <p:nvPicPr>
          <p:cNvPr id="7170" name="Picture 2" descr="Secondary storage device in hindi, Bewaar 63% grote korting -  bkbyaushnt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7563" y="2125431"/>
            <a:ext cx="4444521" cy="3328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477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47193" y="4522304"/>
            <a:ext cx="7886700" cy="2032347"/>
          </a:xfrm>
          <a:prstGeom prst="rect">
            <a:avLst/>
          </a:prstGeom>
        </p:spPr>
      </p:pic>
      <p:sp>
        <p:nvSpPr>
          <p:cNvPr id="2" name="Title 1"/>
          <p:cNvSpPr>
            <a:spLocks noGrp="1"/>
          </p:cNvSpPr>
          <p:nvPr>
            <p:ph type="title"/>
          </p:nvPr>
        </p:nvSpPr>
        <p:spPr/>
        <p:txBody>
          <a:bodyPr/>
          <a:lstStyle/>
          <a:p>
            <a:r>
              <a:rPr lang="en-US" dirty="0"/>
              <a:t>Cache Memory</a:t>
            </a:r>
          </a:p>
        </p:txBody>
      </p:sp>
      <p:sp>
        <p:nvSpPr>
          <p:cNvPr id="3" name="Content Placeholder 2"/>
          <p:cNvSpPr>
            <a:spLocks noGrp="1"/>
          </p:cNvSpPr>
          <p:nvPr>
            <p:ph idx="1"/>
          </p:nvPr>
        </p:nvSpPr>
        <p:spPr>
          <a:xfrm>
            <a:off x="604434" y="1373130"/>
            <a:ext cx="11372218" cy="3149174"/>
          </a:xfrm>
        </p:spPr>
        <p:txBody>
          <a:bodyPr>
            <a:normAutofit/>
          </a:bodyPr>
          <a:lstStyle/>
          <a:p>
            <a:r>
              <a:rPr lang="en-US" dirty="0">
                <a:solidFill>
                  <a:schemeClr val="tx1"/>
                </a:solidFill>
              </a:rPr>
              <a:t>To increase the performance of CPU, a small memory chip is attached between CPU and main memory whose access time is very close to the processing speed of CPU. This memory is called as Cache memory. It is used to store programs or data currently being executed or data that is being frequently used by the CPU. Fast access of these data and instructions increases the overall execution speed of the software. It is very expensive memory and so has to be used in a limited amount. Cache memory is also known as CPU memory. It is either integrated directly with the CPU chip or is placed separately on the motherboard. As the microprocessor processes data, it first looks in the cache memory. If the required data or instructions are found there, it does not have to spend more time in reading data from other storage devices that have slower access time. Hence the processing speed increases.</a:t>
            </a:r>
          </a:p>
        </p:txBody>
      </p:sp>
    </p:spTree>
    <p:extLst>
      <p:ext uri="{BB962C8B-B14F-4D97-AF65-F5344CB8AC3E}">
        <p14:creationId xmlns:p14="http://schemas.microsoft.com/office/powerpoint/2010/main" val="173327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280" y="0"/>
            <a:ext cx="10749367" cy="1208868"/>
          </a:xfrm>
        </p:spPr>
        <p:txBody>
          <a:bodyPr/>
          <a:lstStyle/>
          <a:p>
            <a:r>
              <a:rPr lang="en-US" dirty="0"/>
              <a:t>MEMORY ACCESSING MODES</a:t>
            </a:r>
          </a:p>
        </p:txBody>
      </p:sp>
      <p:sp>
        <p:nvSpPr>
          <p:cNvPr id="3" name="Content Placeholder 2"/>
          <p:cNvSpPr>
            <a:spLocks noGrp="1"/>
          </p:cNvSpPr>
          <p:nvPr>
            <p:ph idx="1"/>
          </p:nvPr>
        </p:nvSpPr>
        <p:spPr>
          <a:xfrm>
            <a:off x="423280" y="1411557"/>
            <a:ext cx="11670954" cy="2625605"/>
          </a:xfrm>
        </p:spPr>
        <p:txBody>
          <a:bodyPr>
            <a:noAutofit/>
          </a:bodyPr>
          <a:lstStyle/>
          <a:p>
            <a:r>
              <a:rPr lang="en-US" b="1" dirty="0">
                <a:solidFill>
                  <a:schemeClr val="tx1"/>
                </a:solidFill>
              </a:rPr>
              <a:t>Direct Access or Random Access:</a:t>
            </a:r>
          </a:p>
          <a:p>
            <a:r>
              <a:rPr lang="en-US" dirty="0">
                <a:solidFill>
                  <a:schemeClr val="tx1"/>
                </a:solidFill>
              </a:rPr>
              <a:t>It is the type of accessing mode in which the value to be stored in a particular memory location is obtained directly. Since the data can be accessed in any order that is why this type of memory access is also known as random access of memory. This type of memory access is generally fast and more flexible. The type to be stored in memory is obtained directly by retrieving it from another memory location. This type of memory access is based on the principle that any piece of data can be returned in a constant time, regardless of its physical location and previous access. The web uses direct memory access mode.</a:t>
            </a:r>
          </a:p>
        </p:txBody>
      </p:sp>
      <p:pic>
        <p:nvPicPr>
          <p:cNvPr id="8198" name="Picture 6" descr="Sequential access - Wikipedia"/>
          <p:cNvPicPr>
            <a:picLocks noChangeAspect="1" noChangeArrowheads="1"/>
          </p:cNvPicPr>
          <p:nvPr/>
        </p:nvPicPr>
        <p:blipFill rotWithShape="1">
          <a:blip r:embed="rId2">
            <a:extLst>
              <a:ext uri="{28A0092B-C50C-407E-A947-70E740481C1C}">
                <a14:useLocalDpi xmlns:a14="http://schemas.microsoft.com/office/drawing/2010/main" val="0"/>
              </a:ext>
            </a:extLst>
          </a:blip>
          <a:srcRect t="43200"/>
          <a:stretch/>
        </p:blipFill>
        <p:spPr bwMode="auto">
          <a:xfrm>
            <a:off x="3120748" y="4308860"/>
            <a:ext cx="5354429" cy="1824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415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ACCESSING MODES</a:t>
            </a:r>
          </a:p>
        </p:txBody>
      </p:sp>
      <p:sp>
        <p:nvSpPr>
          <p:cNvPr id="3" name="Content Placeholder 2"/>
          <p:cNvSpPr>
            <a:spLocks noGrp="1"/>
          </p:cNvSpPr>
          <p:nvPr>
            <p:ph idx="1"/>
          </p:nvPr>
        </p:nvSpPr>
        <p:spPr>
          <a:xfrm>
            <a:off x="718870" y="1411557"/>
            <a:ext cx="10634931" cy="2720496"/>
          </a:xfrm>
        </p:spPr>
        <p:txBody>
          <a:bodyPr>
            <a:normAutofit/>
          </a:bodyPr>
          <a:lstStyle/>
          <a:p>
            <a:r>
              <a:rPr lang="en-US" b="1" dirty="0">
                <a:solidFill>
                  <a:schemeClr val="tx1"/>
                </a:solidFill>
              </a:rPr>
              <a:t>Sequential Access memory:</a:t>
            </a:r>
          </a:p>
          <a:p>
            <a:r>
              <a:rPr lang="en-US" dirty="0">
                <a:solidFill>
                  <a:schemeClr val="tx1"/>
                </a:solidFill>
              </a:rPr>
              <a:t>It is the type of memory in which the stored data is read in sequence. That means if you want to display the fourth record, the reading will start from the first record and then move to second, third and then fourth record. This type of memory access can be time consuming and hence slow, especially when the data to be read is towards the end. Sequential access devices are generally a form of magnetic storage. Hard disks, CD-ROMs and magnetic tapes use sequential access of memory.</a:t>
            </a:r>
          </a:p>
        </p:txBody>
      </p:sp>
      <p:pic>
        <p:nvPicPr>
          <p:cNvPr id="9220" name="Picture 4" descr="Sequential access - Wikipedia"/>
          <p:cNvPicPr>
            <a:picLocks noChangeAspect="1" noChangeArrowheads="1"/>
          </p:cNvPicPr>
          <p:nvPr/>
        </p:nvPicPr>
        <p:blipFill rotWithShape="1">
          <a:blip r:embed="rId2">
            <a:extLst>
              <a:ext uri="{28A0092B-C50C-407E-A947-70E740481C1C}">
                <a14:useLocalDpi xmlns:a14="http://schemas.microsoft.com/office/drawing/2010/main" val="0"/>
              </a:ext>
            </a:extLst>
          </a:blip>
          <a:srcRect b="56801"/>
          <a:stretch/>
        </p:blipFill>
        <p:spPr bwMode="auto">
          <a:xfrm>
            <a:off x="3473930" y="4580627"/>
            <a:ext cx="5124810" cy="132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83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5926" y="3183147"/>
            <a:ext cx="8451674" cy="584775"/>
          </a:xfrm>
          <a:prstGeom prst="rect">
            <a:avLst/>
          </a:prstGeom>
          <a:solidFill>
            <a:schemeClr val="accent4">
              <a:lumMod val="60000"/>
              <a:lumOff val="40000"/>
            </a:schemeClr>
          </a:solidFill>
        </p:spPr>
        <p:txBody>
          <a:bodyPr wrap="none" rtlCol="0">
            <a:spAutoFit/>
          </a:bodyPr>
          <a:lstStyle/>
          <a:p>
            <a:pPr algn="ctr"/>
            <a:r>
              <a:rPr lang="en-US" sz="3200" b="1" dirty="0"/>
              <a:t>That’s all for today….see you in next class!!</a:t>
            </a:r>
          </a:p>
        </p:txBody>
      </p:sp>
    </p:spTree>
    <p:extLst>
      <p:ext uri="{BB962C8B-B14F-4D97-AF65-F5344CB8AC3E}">
        <p14:creationId xmlns:p14="http://schemas.microsoft.com/office/powerpoint/2010/main" val="3708322634"/>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2.xml><?xml version="1.0" encoding="utf-8"?>
<ds:datastoreItem xmlns:ds="http://schemas.openxmlformats.org/officeDocument/2006/customXml" ds:itemID="{B970C04F-E7AC-41AB-9C6D-1B1BB88BFF7F}">
  <ds:schemaRefs>
    <ds:schemaRef ds:uri="http://schemas.microsoft.com/office/2006/metadata/properties"/>
    <ds:schemaRef ds:uri="http://schemas.microsoft.com/office/infopath/2007/PartnerControls"/>
    <ds:schemaRef ds:uri="4873beb7-5857-4685-be1f-d57550cc96cc"/>
  </ds:schemaRefs>
</ds:datastoreItem>
</file>

<file path=customXml/itemProps3.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207</TotalTime>
  <Words>1280</Words>
  <Application>Microsoft Office PowerPoint</Application>
  <PresentationFormat>Widescreen</PresentationFormat>
  <Paragraphs>51</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Segoe UI</vt:lpstr>
      <vt:lpstr>Segoe UI Light</vt:lpstr>
      <vt:lpstr>WelcomeDoc</vt:lpstr>
      <vt:lpstr>Computer Memory Unit</vt:lpstr>
      <vt:lpstr>Memory</vt:lpstr>
      <vt:lpstr>Classification</vt:lpstr>
      <vt:lpstr>Home Task</vt:lpstr>
      <vt:lpstr>Measuring Memory</vt:lpstr>
      <vt:lpstr>Primary Memory</vt:lpstr>
      <vt:lpstr>Random Access Memory (RAM)</vt:lpstr>
      <vt:lpstr>Random Access Memory (RAM)</vt:lpstr>
      <vt:lpstr>Read Only Memory (ROM)</vt:lpstr>
      <vt:lpstr>Read Only Memory (ROM)</vt:lpstr>
      <vt:lpstr>Secondary Memory</vt:lpstr>
      <vt:lpstr>Cache Memory</vt:lpstr>
      <vt:lpstr>MEMORY ACCESSING MODES</vt:lpstr>
      <vt:lpstr>MEMORY ACCESSING MODES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Memory</dc:title>
  <dc:creator>RootCode</dc:creator>
  <cp:keywords/>
  <cp:lastModifiedBy>soikot shahriar</cp:lastModifiedBy>
  <cp:revision>12</cp:revision>
  <dcterms:created xsi:type="dcterms:W3CDTF">2024-02-04T16:07:33Z</dcterms:created>
  <dcterms:modified xsi:type="dcterms:W3CDTF">2025-01-27T02:32:17Z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